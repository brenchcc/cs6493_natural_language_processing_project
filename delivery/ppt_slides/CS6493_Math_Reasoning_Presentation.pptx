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DeepSeek joint score</c:v>
                </c:pt>
              </c:strCache>
            </c:strRef>
          </c:tx>
          <c:spPr>
            <a:solidFill>
              <a:srgbClr val="1E5B9E"/>
            </a:solidFill>
          </c:spPr>
          <c:cat>
            <c:strRef>
              <c:f>Sheet1!$A$2:$A$7</c:f>
              <c:strCache>
                <c:ptCount val="6"/>
                <c:pt idx="0">
                  <c:v>CoT zero</c:v>
                </c:pt>
                <c:pt idx="1">
                  <c:v>CoT few</c:v>
                </c:pt>
                <c:pt idx="2">
                  <c:v>Self-Refine</c:v>
                </c:pt>
                <c:pt idx="3">
                  <c:v>Self-Cons.</c:v>
                </c:pt>
                <c:pt idx="4">
                  <c:v>Plan-Solve</c:v>
                </c:pt>
                <c:pt idx="5">
                  <c:v>TIR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0.5112</c:v>
                </c:pt>
                <c:pt idx="1">
                  <c:v>0.4996</c:v>
                </c:pt>
                <c:pt idx="2">
                  <c:v>0.5766</c:v>
                </c:pt>
                <c:pt idx="3">
                  <c:v>0.5214</c:v>
                </c:pt>
                <c:pt idx="4">
                  <c:v>0.6955</c:v>
                </c:pt>
                <c:pt idx="5">
                  <c:v>0.714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joint score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Sheet1!$A$2:$A$7</c:f>
              <c:strCache>
                <c:ptCount val="6"/>
                <c:pt idx="0">
                  <c:v>CoT zero</c:v>
                </c:pt>
                <c:pt idx="1">
                  <c:v>CoT few</c:v>
                </c:pt>
                <c:pt idx="2">
                  <c:v>Self-Refine</c:v>
                </c:pt>
                <c:pt idx="3">
                  <c:v>Self-Cons.</c:v>
                </c:pt>
                <c:pt idx="4">
                  <c:v>Plan-Solve</c:v>
                </c:pt>
                <c:pt idx="5">
                  <c:v>TIR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0.5176</c:v>
                </c:pt>
                <c:pt idx="1">
                  <c:v>0.4604</c:v>
                </c:pt>
                <c:pt idx="2">
                  <c:v>0.4726</c:v>
                </c:pt>
                <c:pt idx="3">
                  <c:v>0.4789</c:v>
                </c:pt>
                <c:pt idx="4">
                  <c:v>0.657</c:v>
                </c:pt>
                <c:pt idx="5">
                  <c:v>0.6681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5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9494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1E5B9E"/>
                </a:solidFill>
                <a:latin typeface="Courier New"/>
              </a:rPr>
              <a:t>CS6493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097280"/>
            <a:ext cx="786384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8212F"/>
                </a:solidFill>
                <a:latin typeface="Georgia"/>
              </a:rPr>
              <a:t>Mathematical Reasoning in Small Open-Weight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17520"/>
            <a:ext cx="69494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084"/>
                </a:solidFill>
                <a:latin typeface="Arial"/>
              </a:rPr>
              <a:t>Prompting accuracy and response efficiency for classroom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3904"/>
            <a:ext cx="448056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858768"/>
            <a:ext cx="42062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Courier New"/>
              </a:rPr>
              <a:t>Qwen2.5-Math-1.5B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4224528"/>
            <a:ext cx="448056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279392"/>
            <a:ext cx="42062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Courier New"/>
              </a:rPr>
              <a:t>DeepSeek-R1-Distill-Qwen-1.5B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4645152"/>
            <a:ext cx="448056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700016"/>
            <a:ext cx="42062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Courier New"/>
              </a:rPr>
              <a:t>MATH-500 / GSM8K / AIME 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55480" y="1408176"/>
            <a:ext cx="16459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1E5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38944" y="1682496"/>
            <a:ext cx="1078992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4200" b="1">
                <a:solidFill>
                  <a:srgbClr val="1E5B9E"/>
                </a:solidFill>
                <a:latin typeface="Georgia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30384" y="2359152"/>
            <a:ext cx="877824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647084"/>
                </a:solidFill>
                <a:latin typeface="Courier New"/>
              </a:rPr>
              <a:t>SLIDES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The project studies not only whether a method gets the answer, but how it behaves while getting there.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02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Can structured prompting improve math reasoning under limited compute?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The core question is not just accuracy. It is accuracy under visible reasoning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139696"/>
            <a:ext cx="3395472" cy="64008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Reasoning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Can the model decompose, execute, and return a precise final answer?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9872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139696"/>
            <a:ext cx="339547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4464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Cost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464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Does the method hide extra generations behind a concise final response?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9936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9936" y="2139696"/>
            <a:ext cx="3395472" cy="6400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4528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Behavior stability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4528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Does the answer format stay stable without repeated conclusions or hesitation loops?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The evaluation target is a reliable solver behavior, not a single isolated number.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03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A controlled small-model benchmark across three math splits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Fixed sampled subsets keep the comparison reproducible and affordable.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029968"/>
            <a:ext cx="339547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029968"/>
            <a:ext cx="3395472" cy="64008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31136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3066288" cy="11978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Qwen2.5-Math-1.5B and DeepSeek-R1-Distill-Qwen-1.5B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9872" y="2029968"/>
            <a:ext cx="339547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029968"/>
            <a:ext cx="339547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4464" y="2231136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464" y="2688336"/>
            <a:ext cx="3066288" cy="11978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50 MATH-500, 50 GSM8K, and 30 AIME 2024 samples per run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9936" y="2029968"/>
            <a:ext cx="339547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9936" y="2029968"/>
            <a:ext cx="3395472" cy="6400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4528" y="2231136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4528" y="2688336"/>
            <a:ext cx="3066288" cy="11978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Same answer parser, same equivalence grader, best joint-score row selected for reporting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4498848"/>
            <a:ext cx="8503920" cy="530352"/>
          </a:xfrm>
          <a:prstGeom prst="rect">
            <a:avLst/>
          </a:prstGeom>
          <a:solidFill>
            <a:srgbClr val="E7F6F4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83664" y="4645152"/>
            <a:ext cx="80467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Arial"/>
              </a:rPr>
              <a:t>Total per model-method run: 130 fixed questions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Each model-method run covers 130 fixed questions, making relative comparisons easier to audit.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EXPERIMENT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04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The experiment records the full reasoning trajectory, not only the final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This is the key design choice that makes multi-stage methods comparable.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011680"/>
            <a:ext cx="2505456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011680"/>
            <a:ext cx="2505456" cy="73152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2176272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5B9E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9232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rial"/>
              </a:rPr>
              <a:t>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11296"/>
            <a:ext cx="217627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084"/>
                </a:solidFill>
                <a:latin typeface="Arial"/>
              </a:rPr>
              <a:t>Use fixed subsets so every method sees the same 130 questions per model.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11680"/>
            <a:ext cx="2505456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9856" y="2011680"/>
            <a:ext cx="2505456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304288"/>
            <a:ext cx="2176272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766E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999232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rial"/>
              </a:rPr>
              <a:t>Infer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511296"/>
            <a:ext cx="217627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084"/>
                </a:solidFill>
                <a:latin typeface="Arial"/>
              </a:rPr>
              <a:t>Store final response plus intermediate plans, critiques, samples, or tool transcripts.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2011680"/>
            <a:ext cx="2505456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9904" y="2011680"/>
            <a:ext cx="2505456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2304288"/>
            <a:ext cx="2176272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B7791F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999232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rial"/>
              </a:rPr>
              <a:t>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3511296"/>
            <a:ext cx="217627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084"/>
                </a:solidFill>
                <a:latin typeface="Arial"/>
              </a:rPr>
              <a:t>Extract final answers with one parser and compare by mathematical equivalence.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59952" y="2011680"/>
            <a:ext cx="2505456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59952" y="2011680"/>
            <a:ext cx="2505456" cy="73152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24544" y="2304288"/>
            <a:ext cx="2176272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F855A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544" y="2999232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rial"/>
              </a:rPr>
              <a:t>Aggregate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544" y="3511296"/>
            <a:ext cx="217627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084"/>
                </a:solidFill>
                <a:latin typeface="Arial"/>
              </a:rPr>
              <a:t>Compute joint score and factor diagnostics by model, method, and dataset.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The evaluation unit is the complete solving trajectory, because hidden generations are part of the method.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METHOD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05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Three intervention levels: prompt context, inference structure, and tool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The taxonomy prevents unfair comparison between prompt-only and tool-augmented methods.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938528"/>
            <a:ext cx="3358896" cy="3273552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938528"/>
            <a:ext cx="3358896" cy="73152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57984"/>
            <a:ext cx="302971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Prompt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3029712" cy="7680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E5B9E"/>
                </a:solidFill>
                <a:latin typeface="Courier New"/>
              </a:rPr>
              <a:t>cot_zero</a:t>
            </a:r>
          </a:p>
          <a:p>
            <a:pPr algn="l"/>
            <a:r>
              <a:rPr sz="1100" b="1">
                <a:solidFill>
                  <a:srgbClr val="1E5B9E"/>
                </a:solidFill>
                <a:latin typeface="Courier New"/>
              </a:rPr>
              <a:t>cot_few_shot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0752"/>
            <a:ext cx="3029712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Single-turn prompt changes; cleanest assignment-aligned baselines.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160" y="1938528"/>
            <a:ext cx="3358896" cy="3273552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8160" y="1938528"/>
            <a:ext cx="3358896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2752" y="2157984"/>
            <a:ext cx="302971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Inference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2752" y="2688336"/>
            <a:ext cx="3029712" cy="7680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ourier New"/>
              </a:rPr>
              <a:t>self_refine</a:t>
            </a:r>
          </a:p>
          <a:p>
            <a:pPr algn="l"/>
            <a:r>
              <a:rPr sz="1100" b="1">
                <a:solidFill>
                  <a:srgbClr val="0F766E"/>
                </a:solidFill>
                <a:latin typeface="Courier New"/>
              </a:rPr>
              <a:t>self_consistency</a:t>
            </a:r>
          </a:p>
          <a:p>
            <a:pPr algn="l"/>
            <a:r>
              <a:rPr sz="1100" b="1">
                <a:solidFill>
                  <a:srgbClr val="0F766E"/>
                </a:solidFill>
                <a:latin typeface="Courier New"/>
              </a:rPr>
              <a:t>plan_solve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2752" y="3730752"/>
            <a:ext cx="3029712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Critique, repeated sampling, or explicit decomposition changes the reasoning trajectory.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6512" y="1938528"/>
            <a:ext cx="3358896" cy="3273552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6512" y="1938528"/>
            <a:ext cx="3358896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1104" y="2157984"/>
            <a:ext cx="302971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Tool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1104" y="2688336"/>
            <a:ext cx="3029712" cy="7680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1F"/>
                </a:solidFill>
                <a:latin typeface="Courier New"/>
              </a:rPr>
              <a:t>tir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1104" y="3730752"/>
            <a:ext cx="3029712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The model can emit Python, observe the output, and continue reasoning.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Similar score gains can come from very different additional computation budgets.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DIALOGUE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06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Single-turn, multi-sample, multi-turn, and tool-loop methods have different cost surfaces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The dialogue pattern is part of the method, so it must be counted in evaluation.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39696"/>
            <a:ext cx="2505456" cy="233172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139696"/>
            <a:ext cx="2505456" cy="64008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Single-turn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3"/>
            <a:ext cx="2176272" cy="1563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CoT zero-shot and few-shot produce one final response; final length equals total length.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9856" y="2139696"/>
            <a:ext cx="2505456" cy="233172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9856" y="2139696"/>
            <a:ext cx="2505456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340864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Multi-sample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798063"/>
            <a:ext cx="2176272" cy="1563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Self-Consistency launches five independent solutions before voting; total cost grows linearly.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2139696"/>
            <a:ext cx="2505456" cy="233172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9904" y="2139696"/>
            <a:ext cx="2505456" cy="6400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2340864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Multi-turn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798063"/>
            <a:ext cx="2176272" cy="1563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Self-Refine and Plan-and-Solve split reasoning into stages, so intermediate text must be counted.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59952" y="2139696"/>
            <a:ext cx="2505456" cy="233172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9952" y="2139696"/>
            <a:ext cx="2505456" cy="6400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24544" y="2340864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Tool-loop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2798063"/>
            <a:ext cx="2176272" cy="1563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TIR inserts Python actions and observations; the transcript becomes part of the solving cost.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A fair comparison needs both final answer quality and full trajectory accounting.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PROMPT DESIGN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07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Small reasoning models fail in more than one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A wrong answer is only the visible end of several behavioral failure modes.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139696"/>
            <a:ext cx="3395472" cy="64008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Missing-step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The model starts solving before identifying all required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9872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139696"/>
            <a:ext cx="339547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4464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Overlong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464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The model keeps generating even after the useful reasoning signal has peaked.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9936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9936" y="2139696"/>
            <a:ext cx="3395472" cy="6400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4528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Unstable final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4528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The model repeats answer cues, revises late, or continues after the answer.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The prompt design should reduce planning errors, and the metric should expose inefficient reasoning behavior.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METHOD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08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Each method changes a different part of the reasoning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The methods are not only prompt names; each one implies a different dialogue and compute pattern.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39696"/>
            <a:ext cx="3395472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139696"/>
            <a:ext cx="3395472" cy="64008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CoT zero-shot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3"/>
            <a:ext cx="3066288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One response. Tests whether step-by-step instruction alone can trigger useful reasoning.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9872" y="2139696"/>
            <a:ext cx="3395472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139696"/>
            <a:ext cx="339547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4464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CoT few-shot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464" y="2798063"/>
            <a:ext cx="3066288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One response with demonstrations. Guides style, but examples can also bias format.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9936" y="2139696"/>
            <a:ext cx="3395472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9936" y="2139696"/>
            <a:ext cx="3395472" cy="6400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4528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Self-Refine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4528" y="2798063"/>
            <a:ext cx="3066288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Solve, critique, rewrite. Useful when the model can detect its own mistakes.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3639311"/>
            <a:ext cx="3395472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3639311"/>
            <a:ext cx="3395472" cy="6400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40479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Self-Consistency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97679"/>
            <a:ext cx="3066288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Five independent paths plus voting. Robust but the most expensive baseline.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9872" y="3639311"/>
            <a:ext cx="3395472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9872" y="3639311"/>
            <a:ext cx="3395472" cy="64008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4464" y="3840479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Plan-and-Solve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4464" y="4297679"/>
            <a:ext cx="3066288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Plan first, solve second. Targets missing-step errors without external tools.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9936" y="3639311"/>
            <a:ext cx="3395472" cy="1298448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9936" y="3639311"/>
            <a:ext cx="339547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34528" y="3840479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TIR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34528" y="4297679"/>
            <a:ext cx="3066288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Reason, call Python, observe, continue. Strong but tool-augmented rather than prompt-only.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The most important contrast is not baseline versus extension, but where extra reasoning budget enters the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PROMPT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09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Plan-and-Solve moves structure before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The proposed prompt-only method asks the model to plan first, then solve according to the plan.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011680"/>
            <a:ext cx="3395472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011680"/>
            <a:ext cx="3395472" cy="73152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3066288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5B9E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9232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rial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11296"/>
            <a:ext cx="3066288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084"/>
                </a:solidFill>
                <a:latin typeface="Arial"/>
              </a:rPr>
              <a:t>Write a short numbered decomposition of the mathematical task.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872" y="2011680"/>
            <a:ext cx="3395472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9872" y="2011680"/>
            <a:ext cx="3395472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4464" y="2304288"/>
            <a:ext cx="3066288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766E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4464" y="2999232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rial"/>
              </a:rPr>
              <a:t>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4464" y="3511296"/>
            <a:ext cx="3066288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084"/>
                </a:solidFill>
                <a:latin typeface="Arial"/>
              </a:rPr>
              <a:t>Follow the plan step by step, avoiding unsupported jumps.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9936" y="2011680"/>
            <a:ext cx="3395472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9936" y="2011680"/>
            <a:ext cx="3395472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4528" y="2304288"/>
            <a:ext cx="3066288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B7791F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4528" y="2999232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rial"/>
              </a:rPr>
              <a:t>Finalize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4528" y="3511296"/>
            <a:ext cx="3066288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084"/>
                </a:solidFill>
                <a:latin typeface="Arial"/>
              </a:rPr>
              <a:t>Return one clear final answer for parsing and grading.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Plan-and-Solve is fair against prompt-only baselines because it adds structure without external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AGENTIC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10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TIR turns math solving into a compact action-observation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Tool-Integrated Reasoning is not prompt-only; it is a small agentic workflow.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011680"/>
            <a:ext cx="2505456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011680"/>
            <a:ext cx="2505456" cy="73152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2176272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5B9E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9232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rial"/>
              </a:rPr>
              <a:t>Reason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11296"/>
            <a:ext cx="217627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084"/>
                </a:solidFill>
                <a:latin typeface="Arial"/>
              </a:rPr>
              <a:t>Identify whether the next step needs reliable computation.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11680"/>
            <a:ext cx="2505456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9856" y="2011680"/>
            <a:ext cx="2505456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304288"/>
            <a:ext cx="2176272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766E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999232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rial"/>
              </a:rPr>
              <a:t>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511296"/>
            <a:ext cx="217627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084"/>
                </a:solidFill>
                <a:latin typeface="Arial"/>
              </a:rPr>
              <a:t>Emit executable Python when arithmetic or symbolic work is useful.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2011680"/>
            <a:ext cx="2505456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9904" y="2011680"/>
            <a:ext cx="2505456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2304288"/>
            <a:ext cx="2176272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B7791F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999232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rial"/>
              </a:rPr>
              <a:t>Observe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3511296"/>
            <a:ext cx="217627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084"/>
                </a:solidFill>
                <a:latin typeface="Arial"/>
              </a:rPr>
              <a:t>Read the tool output as evidence for the next reasoning step.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59952" y="2011680"/>
            <a:ext cx="2505456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59952" y="2011680"/>
            <a:ext cx="2505456" cy="73152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24544" y="2304288"/>
            <a:ext cx="2176272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F855A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544" y="2999232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rial"/>
              </a:rPr>
              <a:t>Continue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544" y="3511296"/>
            <a:ext cx="217627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084"/>
                </a:solidFill>
                <a:latin typeface="Arial"/>
              </a:rPr>
              <a:t>Update the solution and produce a final answer.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TIR is closest to a ReAct-style solver loop, but with a narrow mathematical tool boundary.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EVALUATION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11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Why a single metric view is misleading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The project requirement mentions accuracy and response length; multi-stage methods make that separation tricky.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139696"/>
            <a:ext cx="3395472" cy="64008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Accuracy-first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Wrong answers receive zero, so the score never rewards a short but incorrect response.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9872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139696"/>
            <a:ext cx="339547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4464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Full trajectory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464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Plans, critiques, five samples, and tool transcripts are counted as generated reasoning cost.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9936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9936" y="2139696"/>
            <a:ext cx="3395472" cy="6400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4528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Behavior diagnostics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4528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Answer, length, and reflection factors explain why two correct methods differ.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The metric is designed to be accuracy-first, trajectory-aware, and interpretable during error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DESIGNED SCORE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12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Correctness gates the score; efficiency adjusts the remaining 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Incorrect answers still receive zero, so short wrong answers cannot outrank long correct 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38528"/>
            <a:ext cx="1005840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2249424"/>
            <a:ext cx="9418320" cy="438912"/>
          </a:xfrm>
          <a:prstGeom prst="rect">
            <a:avLst/>
          </a:prstGeom>
          <a:solidFill>
            <a:srgbClr val="F7F9FC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6464" y="2359152"/>
            <a:ext cx="901598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12F"/>
                </a:solidFill>
                <a:latin typeface="Courier New"/>
              </a:rPr>
              <a:t>efficiency_i = answer_i^0.5 x length_i^0.3 x reflection_i^0.2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2907791"/>
            <a:ext cx="9418320" cy="438912"/>
          </a:xfrm>
          <a:prstGeom prst="rect">
            <a:avLst/>
          </a:prstGeom>
          <a:solidFill>
            <a:srgbClr val="F7F9FC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6464" y="3017520"/>
            <a:ext cx="901598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12F"/>
                </a:solidFill>
                <a:latin typeface="Courier New"/>
              </a:rPr>
              <a:t>score_i = c_i x (0.6 + 0.4 x efficiency_i)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3566160"/>
            <a:ext cx="9418320" cy="438912"/>
          </a:xfrm>
          <a:prstGeom prst="rect">
            <a:avLst/>
          </a:prstGeom>
          <a:solidFill>
            <a:srgbClr val="F7F9FC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4" y="3675887"/>
            <a:ext cx="9015984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12F"/>
                </a:solidFill>
                <a:latin typeface="Courier New"/>
              </a:rPr>
              <a:t>joint score = mean(score_i)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47088" y="4828032"/>
            <a:ext cx="8156448" cy="493776"/>
          </a:xfrm>
          <a:prstGeom prst="rect">
            <a:avLst/>
          </a:prstGeom>
          <a:solidFill>
            <a:srgbClr val="E7F6F4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93392" y="4965192"/>
            <a:ext cx="78638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Arial"/>
              </a:rPr>
              <a:t>Correctness first; behavior only modifies correct samples.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The 0.6 floor keeps correctness dominant, while the 0.4 modifier separates correct samples by behavior.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FACTOR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13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The factors explain why two correct methods behave differently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The scalar joint score ranks methods; the factor view explains the ranking.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139696"/>
            <a:ext cx="3395472" cy="64008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Answer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Detects repeated final-answer declarations and long continuation after an answer cue appears.</a:t>
            </a:r>
          </a:p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answer_i = count_i x tail_i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9872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139696"/>
            <a:ext cx="339547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4464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Length factor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464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Penalizes only excessive total generated tokens, including hidden intermediate stages.</a:t>
            </a:r>
          </a:p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length_i = exp(-max(0,L_i-1024)/512)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9936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9936" y="2139696"/>
            <a:ext cx="3395472" cy="6400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4528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Reflection 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4528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Flags repeated wait/check/verify/rethink cues that suggest unstable reasoning.</a:t>
            </a:r>
          </a:p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reflection_i = exp(-max(0,F_i-1)/2)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Low length, answer, or reflection factors point to different error-analysis stories.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DESIGNED SCORE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14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Joint score comparison highlights the proposed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Only the custom accuracy-first joint score is used as the main result view.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874519"/>
          <a:ext cx="1001268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Plan-and-Solve leads prompt-only methods; TIR is strongest when tool use is allowed.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METHOD-LEVEL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15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Plan-and-Solve is the safest main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It improves the designed score while staying inside the prompt-only comparison setting.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139696"/>
            <a:ext cx="3395472" cy="64008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Best prompt-only 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It is easy to explain: plan before solving, then answer clearly.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9872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139696"/>
            <a:ext cx="339547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4464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Compute-aware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464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It avoids the five-path sampling budget of Self-Consistency.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9936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9936" y="2139696"/>
            <a:ext cx="3395472" cy="6400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4528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Empirical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4528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It receives higher joint scores than all four assignment-aligned baselines.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Plan-and-Solve is the primary proposed prompt-only method for the final presentation.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AGENTIC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16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TIR is strong because it changes the problem-solving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The caveat is not a weakness; it is the research point.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39696"/>
            <a:ext cx="5175504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139696"/>
            <a:ext cx="5175504" cy="6400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48463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Not prompt-only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3"/>
            <a:ext cx="4846320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The model receives a Python observation, so it is not directly comparable with static prompts.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9904" y="2139696"/>
            <a:ext cx="5175504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9904" y="2139696"/>
            <a:ext cx="5175504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2340864"/>
            <a:ext cx="484632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Agentic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798063"/>
            <a:ext cx="4846320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The loop externalizes arithmetic and symbolic execution, then feeds evidence back into reasoning.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TIR points beyond static prompting toward small solver agents with reliable tools.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DATASET-LEVEL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17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The three datasets play different diagnostic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The dataset breakdown is interpreted qualitatively, not as a standalone metric slide.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139696"/>
            <a:ext cx="3395472" cy="64008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GSM8K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Grade-school word problems; decomposition and controlled execution help most directly.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9872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139696"/>
            <a:ext cx="3395472" cy="64008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4464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MATH-500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464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Competition-style coverage; useful for broader mathematical reasoning diversity.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9936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9936" y="2139696"/>
            <a:ext cx="3395472" cy="6400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4528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AIME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4528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Hard stress test; exposes whether gains transfer beyond easier arithmetic structure.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AIME is where superficial gains are most likely to break; GSM8K is where structure helps most visibly.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LITERATURE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18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The design borrows ideas from prompting, tool use, and reasoning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The references are used as design motivation, not as claims of full system equivalence.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1993392"/>
          <a:ext cx="10442448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816"/>
                <a:gridCol w="3480816"/>
                <a:gridCol w="3480816"/>
              </a:tblGrid>
              <a:tr h="7406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5B9E"/>
                          </a:solidFill>
                          <a:latin typeface="Arial"/>
                        </a:rPr>
                        <a:t>Thread</a:t>
                      </a:r>
                    </a:p>
                  </a:txBody>
                  <a:tcPr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5B9E"/>
                          </a:solidFill>
                          <a:latin typeface="Arial"/>
                        </a:rPr>
                        <a:t>References</a:t>
                      </a:r>
                    </a:p>
                  </a:txBody>
                  <a:tcPr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E5B9E"/>
                          </a:solidFill>
                          <a:latin typeface="Arial"/>
                        </a:rPr>
                        <a:t>How it informs this project</a:t>
                      </a:r>
                    </a:p>
                  </a:txBody>
                  <a:tcPr>
                    <a:solidFill>
                      <a:srgbClr val="EAF2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12F"/>
                          </a:solidFill>
                          <a:latin typeface="Arial"/>
                        </a:rPr>
                        <a:t>Prompting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47084"/>
                          </a:solidFill>
                          <a:latin typeface="Arial"/>
                        </a:rPr>
                        <a:t>CoT, Self-Consistency, Self-Refine, Plan-and-Solve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47084"/>
                          </a:solidFill>
                          <a:latin typeface="Arial"/>
                        </a:rPr>
                        <a:t>Structured reasoning trajectories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12F"/>
                          </a:solidFill>
                          <a:latin typeface="Arial"/>
                        </a:rPr>
                        <a:t>Tool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47084"/>
                          </a:solidFill>
                          <a:latin typeface="Arial"/>
                        </a:rPr>
                        <a:t>ToRA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47084"/>
                          </a:solidFill>
                          <a:latin typeface="Arial"/>
                        </a:rPr>
                        <a:t>Reasoning plus executable computation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8212F"/>
                          </a:solidFill>
                          <a:latin typeface="Arial"/>
                        </a:rPr>
                        <a:t>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47084"/>
                          </a:solidFill>
                          <a:latin typeface="Arial"/>
                        </a:rPr>
                        <a:t>NoWait, Dynamic Early Exit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47084"/>
                          </a:solidFill>
                          <a:latin typeface="Arial"/>
                        </a:rPr>
                        <a:t>Reflection and long-reasoning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The project adapts these ideas into a lightweight prompt-level experimental pipeline.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19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From static prompts to adaptive solver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The next step is to let the system decide when to plan, sample, verify, or call tools.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011680"/>
            <a:ext cx="2505456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011680"/>
            <a:ext cx="2505456" cy="73152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2176272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E5B9E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9232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rial"/>
              </a:rPr>
              <a:t>Prompt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11296"/>
            <a:ext cx="217627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084"/>
                </a:solidFill>
                <a:latin typeface="Arial"/>
              </a:rPr>
              <a:t>Train or rule-design a router that chooses CoT, Plan-and-Solve, or tool use by problem type.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11680"/>
            <a:ext cx="2505456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9856" y="2011680"/>
            <a:ext cx="2505456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304288"/>
            <a:ext cx="2176272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766E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999232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rial"/>
              </a:rPr>
              <a:t>ReAct-style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511296"/>
            <a:ext cx="217627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084"/>
                </a:solidFill>
                <a:latin typeface="Arial"/>
              </a:rPr>
              <a:t>Let the solver alternate between reasoning, Python actions, observations, and finalization.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2011680"/>
            <a:ext cx="2505456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9904" y="2011680"/>
            <a:ext cx="2505456" cy="73152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2304288"/>
            <a:ext cx="2176272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B7791F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999232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rial"/>
              </a:rPr>
              <a:t>Verifier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3511296"/>
            <a:ext cx="217627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084"/>
                </a:solidFill>
                <a:latin typeface="Arial"/>
              </a:rPr>
              <a:t>Run a second pass to check answer consistency, detect repeated cues, and request targeted fixes.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59952" y="2011680"/>
            <a:ext cx="2505456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59952" y="2011680"/>
            <a:ext cx="2505456" cy="73152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24544" y="2304288"/>
            <a:ext cx="2176272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F855A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544" y="2999232"/>
            <a:ext cx="21762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12F"/>
                </a:solidFill>
                <a:latin typeface="Arial"/>
              </a:rPr>
              <a:t>Adaptive stopping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544" y="3511296"/>
            <a:ext cx="217627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084"/>
                </a:solidFill>
                <a:latin typeface="Arial"/>
              </a:rPr>
              <a:t>Stop generation when the answer is stable; continue only when uncertainty or contradiction is detected.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A practical next experiment is a routed solver: classify the problem, choose the reasoning mode, verify, then stop early when stable.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4572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47472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1E5B9E"/>
                </a:solidFill>
                <a:latin typeface="Courier New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347472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647084"/>
                </a:solidFill>
                <a:latin typeface="Courier New"/>
              </a:rPr>
              <a:t>20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78992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18212F"/>
                </a:solidFill>
                <a:latin typeface="Georgia"/>
              </a:rPr>
              <a:t>Prompt design and metric design must be discussed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389888"/>
            <a:ext cx="104241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084"/>
                </a:solidFill>
                <a:latin typeface="Arial"/>
              </a:rPr>
              <a:t>Once reasoning becomes multi-stage or tool-augmented, evaluation must describe the behavior it rewards.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139696"/>
            <a:ext cx="3395472" cy="64008"/>
          </a:xfrm>
          <a:prstGeom prst="rect">
            <a:avLst/>
          </a:prstGeom>
          <a:solidFill>
            <a:srgbClr val="1E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Plan-and-Solve is the strongest prompt-only story for this project.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9872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9872" y="2139696"/>
            <a:ext cx="3395472" cy="640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4464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464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TIR is best framed as an agentic extension, not a fair prompt-only baseline.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9936" y="2139696"/>
            <a:ext cx="3395472" cy="2057400"/>
          </a:xfrm>
          <a:prstGeom prst="rect">
            <a:avLst/>
          </a:prstGeom>
          <a:solidFill>
            <a:srgbClr val="FFFFFF"/>
          </a:solidFill>
          <a:ln>
            <a:solidFill>
              <a:srgbClr val="CE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9936" y="2139696"/>
            <a:ext cx="3395472" cy="64008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4528" y="2340864"/>
            <a:ext cx="30662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12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4528" y="2798063"/>
            <a:ext cx="3066288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084"/>
                </a:solidFill>
                <a:latin typeface="Arial"/>
              </a:rPr>
              <a:t>The joint score keeps correctness dominant while making hidden cost visible.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55080"/>
            <a:ext cx="10607040" cy="9144"/>
          </a:xfrm>
          <a:prstGeom prst="rect">
            <a:avLst/>
          </a:prstGeom>
          <a:solidFill>
            <a:srgbClr val="CE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419088"/>
            <a:ext cx="987552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344256"/>
                </a:solidFill>
                <a:latin typeface="Arial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