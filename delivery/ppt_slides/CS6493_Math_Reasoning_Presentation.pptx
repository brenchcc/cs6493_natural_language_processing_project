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DeepSeek joint score</c:v>
                </c:pt>
              </c:strCache>
            </c:strRef>
          </c:tx>
          <c:spPr>
            <a:solidFill>
              <a:srgbClr val="1E5B9E"/>
            </a:solidFill>
          </c:spPr>
          <c:cat>
            <c:strRef>
              <c:f>Sheet1!$A$2:$A$7</c:f>
              <c:strCache>
                <c:ptCount val="6"/>
                <c:pt idx="0">
                  <c:v>CoT zero</c:v>
                </c:pt>
                <c:pt idx="1">
                  <c:v>CoT few</c:v>
                </c:pt>
                <c:pt idx="2">
                  <c:v>Self-Refine</c:v>
                </c:pt>
                <c:pt idx="3">
                  <c:v>Self-Cons.</c:v>
                </c:pt>
                <c:pt idx="4">
                  <c:v>Plan-Solve</c:v>
                </c:pt>
                <c:pt idx="5">
                  <c:v>TIR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0.5112007569363879</c:v>
                </c:pt>
                <c:pt idx="1">
                  <c:v>0.4996375105460599</c:v>
                </c:pt>
                <c:pt idx="2">
                  <c:v>0.5766291429931889</c:v>
                </c:pt>
                <c:pt idx="3">
                  <c:v>0.5213820167983818</c:v>
                </c:pt>
                <c:pt idx="4">
                  <c:v>0.6955189210712173</c:v>
                </c:pt>
                <c:pt idx="5">
                  <c:v>0.7139959100438581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 joint score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Sheet1!$A$2:$A$7</c:f>
              <c:strCache>
                <c:ptCount val="6"/>
                <c:pt idx="0">
                  <c:v>CoT zero</c:v>
                </c:pt>
                <c:pt idx="1">
                  <c:v>CoT few</c:v>
                </c:pt>
                <c:pt idx="2">
                  <c:v>Self-Refine</c:v>
                </c:pt>
                <c:pt idx="3">
                  <c:v>Self-Cons.</c:v>
                </c:pt>
                <c:pt idx="4">
                  <c:v>Plan-Solve</c:v>
                </c:pt>
                <c:pt idx="5">
                  <c:v>TIR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0.5175864218945031</c:v>
                </c:pt>
                <c:pt idx="1">
                  <c:v>0.4604277979075689</c:v>
                </c:pt>
                <c:pt idx="2">
                  <c:v>0.47261278155562825</c:v>
                </c:pt>
                <c:pt idx="3">
                  <c:v>0.4788811292355391</c:v>
                </c:pt>
                <c:pt idx="4">
                  <c:v>0.657011075472665</c:v>
                </c:pt>
                <c:pt idx="5">
                  <c:v>0.66807454824902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75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6304" y="0"/>
            <a:ext cx="54864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694944"/>
            <a:ext cx="457200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1">
                <a:solidFill>
                  <a:srgbClr val="1E5B9E"/>
                </a:solidFill>
                <a:latin typeface="Courier New"/>
              </a:rPr>
              <a:t>CS6493 TOPIC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097280"/>
            <a:ext cx="7863840" cy="1737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>
                <a:solidFill>
                  <a:srgbClr val="18212F"/>
                </a:solidFill>
                <a:latin typeface="Georgia"/>
              </a:rPr>
              <a:t>Mathematical Reasoning in Small Open-Weight LLMs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017520"/>
            <a:ext cx="6949440" cy="43891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0">
                <a:solidFill>
                  <a:srgbClr val="647084"/>
                </a:solidFill>
                <a:latin typeface="Arial"/>
              </a:rPr>
              <a:t>Prompting accuracy and response efficiency for classroom presentation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3803904"/>
            <a:ext cx="4480560" cy="27432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3858768"/>
            <a:ext cx="420624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344256"/>
                </a:solidFill>
                <a:latin typeface="Courier New"/>
              </a:rPr>
              <a:t>Qwen2.5-Math-1.5B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4224528"/>
            <a:ext cx="4480560" cy="27432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4279392"/>
            <a:ext cx="420624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344256"/>
                </a:solidFill>
                <a:latin typeface="Courier New"/>
              </a:rPr>
              <a:t>DeepSeek-R1-Distill-Qwen-1.5B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4645152"/>
            <a:ext cx="4480560" cy="27432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700016"/>
            <a:ext cx="4206240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344256"/>
                </a:solidFill>
                <a:latin typeface="Courier New"/>
              </a:rPr>
              <a:t>MATH-500 / GSM8K / AIME 2024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55480" y="1408176"/>
            <a:ext cx="164592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1E5B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8944" y="1682496"/>
            <a:ext cx="1078992" cy="6583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4200" b="1">
                <a:solidFill>
                  <a:srgbClr val="1E5B9E"/>
                </a:solidFill>
                <a:latin typeface="Georgia"/>
              </a:rPr>
              <a:t>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0384" y="2359152"/>
            <a:ext cx="877824" cy="16459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800" b="1">
                <a:solidFill>
                  <a:srgbClr val="647084"/>
                </a:solidFill>
                <a:latin typeface="Courier New"/>
              </a:rPr>
              <a:t>SLIDES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55080"/>
            <a:ext cx="10607040" cy="9144"/>
          </a:xfrm>
          <a:prstGeom prst="rect">
            <a:avLst/>
          </a:prstGeom>
          <a:solidFill>
            <a:srgbClr val="CE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6656" y="6419088"/>
            <a:ext cx="98755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344256"/>
                </a:solidFill>
                <a:latin typeface="Arial"/>
              </a:rPr>
              <a:t>The project studies not only whether a method gets the answer, but how it behaves while getting there.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4944" y="5650992"/>
            <a:ext cx="10771632" cy="548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5650992"/>
            <a:ext cx="54864" cy="54864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8" y="5733288"/>
            <a:ext cx="1325880" cy="146304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5765292"/>
            <a:ext cx="1170432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600" b="1">
                <a:solidFill>
                  <a:srgbClr val="1E5B9E"/>
                </a:solidFill>
                <a:latin typeface="Courier New"/>
              </a:rPr>
              <a:t>CORE CLAIM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85248" y="5765292"/>
            <a:ext cx="1097280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600" b="1">
                <a:solidFill>
                  <a:srgbClr val="647084"/>
                </a:solidFill>
                <a:latin typeface="Courier New"/>
              </a:rPr>
              <a:t>PROJECT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5925312"/>
            <a:ext cx="10296144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>
                <a:solidFill>
                  <a:srgbClr val="344256"/>
                </a:solidFill>
                <a:latin typeface="Arial"/>
              </a:rPr>
              <a:t>This presentation studies mathematical reasoning as a complete solving behavior. The main contribution is a fair comparison of prompt-only designs and a behavior-aware score that makes hidden reasoning cost explicit.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0"/>
            <a:ext cx="45720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47472"/>
            <a:ext cx="53035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1E5B9E"/>
                </a:solidFill>
                <a:latin typeface="Courier New"/>
              </a:rPr>
              <a:t>RESEARCH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347472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1">
                <a:solidFill>
                  <a:srgbClr val="647084"/>
                </a:solidFill>
                <a:latin typeface="Courier New"/>
              </a:rPr>
              <a:t>02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789920" cy="7498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8212F"/>
                </a:solidFill>
                <a:latin typeface="Georgia"/>
              </a:rPr>
              <a:t>Can structured prompting improve math reasoning under limited compute?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1042416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647084"/>
                </a:solidFill>
                <a:latin typeface="Arial"/>
              </a:rPr>
              <a:t>The core question is not just accuracy. It is accuracy under visible reasoning cost.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39696"/>
            <a:ext cx="3395472" cy="205740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139696"/>
            <a:ext cx="3395472" cy="64008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40864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Reasoning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98063"/>
            <a:ext cx="3066288" cy="1289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Can the model decompose, execute, and return a precise final answer?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9872" y="2139696"/>
            <a:ext cx="3395472" cy="205740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9872" y="2139696"/>
            <a:ext cx="3395472" cy="6400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4464" y="2340864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Cost visibility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4464" y="2798063"/>
            <a:ext cx="3066288" cy="1289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Does the method hide extra generations behind a concise final response?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9936" y="2139696"/>
            <a:ext cx="3395472" cy="205740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69936" y="2139696"/>
            <a:ext cx="3395472" cy="64008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4528" y="2340864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Behavior stability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4528" y="2798063"/>
            <a:ext cx="3066288" cy="1289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Does the answer format stay stable without repeated conclusions or hesitation loops?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4944" y="5650992"/>
            <a:ext cx="10771632" cy="548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4944" y="5650992"/>
            <a:ext cx="54864" cy="54864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41248" y="5733288"/>
            <a:ext cx="1325880" cy="146304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765292"/>
            <a:ext cx="1170432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600" b="1">
                <a:solidFill>
                  <a:srgbClr val="1E5B9E"/>
                </a:solidFill>
                <a:latin typeface="Courier New"/>
              </a:rPr>
              <a:t>RESEARCH LENS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85248" y="5765292"/>
            <a:ext cx="1097280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600" b="1">
                <a:solidFill>
                  <a:srgbClr val="647084"/>
                </a:solidFill>
                <a:latin typeface="Courier New"/>
              </a:rPr>
              <a:t>QUESTION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5925312"/>
            <a:ext cx="10296144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>
                <a:solidFill>
                  <a:srgbClr val="344256"/>
                </a:solidFill>
                <a:latin typeface="Arial"/>
              </a:rPr>
              <a:t>The research question is framed around small open-weight models, where each extra generation stage matters. The goal is to improve correctness while keeping the reasoning process observable and comparable.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355080"/>
            <a:ext cx="10607040" cy="9144"/>
          </a:xfrm>
          <a:prstGeom prst="rect">
            <a:avLst/>
          </a:prstGeom>
          <a:solidFill>
            <a:srgbClr val="CE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6419088"/>
            <a:ext cx="98755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344256"/>
                </a:solidFill>
                <a:latin typeface="Arial"/>
              </a:rPr>
              <a:t>The evaluation target is a reliable solver behavior, not a single isolated number.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0"/>
            <a:ext cx="45720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47472"/>
            <a:ext cx="53035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1E5B9E"/>
                </a:solidFill>
                <a:latin typeface="Courier New"/>
              </a:rPr>
              <a:t>EXPERIMENTAL SETUP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347472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1">
                <a:solidFill>
                  <a:srgbClr val="647084"/>
                </a:solidFill>
                <a:latin typeface="Courier New"/>
              </a:rPr>
              <a:t>03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789920" cy="7498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8212F"/>
                </a:solidFill>
                <a:latin typeface="Georgia"/>
              </a:rPr>
              <a:t>A controlled small-model benchmark across three math splits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1042416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647084"/>
                </a:solidFill>
                <a:latin typeface="Arial"/>
              </a:rPr>
              <a:t>Fixed sampled subsets keep the comparison reproducible and affordable.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29968"/>
            <a:ext cx="3395472" cy="196596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029968"/>
            <a:ext cx="3395472" cy="64008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231136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88336"/>
            <a:ext cx="3066288" cy="11978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Qwen2.5-Math-1.5B and DeepSeek-R1-Distill-Qwen-1.5B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9872" y="2029968"/>
            <a:ext cx="3395472" cy="196596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9872" y="2029968"/>
            <a:ext cx="3395472" cy="6400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4464" y="2231136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Datasets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4464" y="2688336"/>
            <a:ext cx="3066288" cy="11978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50 MATH-500, 50 GSM8K, and 30 AIME 2024 samples per run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9936" y="2029968"/>
            <a:ext cx="3395472" cy="196596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69936" y="2029968"/>
            <a:ext cx="3395472" cy="64008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4528" y="2231136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Protocol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4528" y="2688336"/>
            <a:ext cx="3066288" cy="11978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Same answer parser, same equivalence grader, best joint-score row selected for reporting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645920" y="4498848"/>
            <a:ext cx="8503920" cy="530352"/>
          </a:xfrm>
          <a:prstGeom prst="rect">
            <a:avLst/>
          </a:prstGeom>
          <a:solidFill>
            <a:srgbClr val="E7F6F4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83664" y="4645152"/>
            <a:ext cx="8046720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600" b="1">
                <a:solidFill>
                  <a:srgbClr val="0F766E"/>
                </a:solidFill>
                <a:latin typeface="Arial"/>
              </a:rPr>
              <a:t>Total per model-method run: 130 fixed questions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94944" y="5650992"/>
            <a:ext cx="10771632" cy="548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4944" y="5650992"/>
            <a:ext cx="54864" cy="5486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1248" y="5733288"/>
            <a:ext cx="1325880" cy="146304"/>
          </a:xfrm>
          <a:prstGeom prst="roundRect">
            <a:avLst/>
          </a:prstGeom>
          <a:solidFill>
            <a:srgbClr val="E7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6112" y="5765292"/>
            <a:ext cx="1170432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600" b="1">
                <a:solidFill>
                  <a:srgbClr val="0F766E"/>
                </a:solidFill>
                <a:latin typeface="Courier New"/>
              </a:rPr>
              <a:t>PROTOCOL READ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85248" y="5765292"/>
            <a:ext cx="1097280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600" b="1">
                <a:solidFill>
                  <a:srgbClr val="647084"/>
                </a:solidFill>
                <a:latin typeface="Courier New"/>
              </a:rPr>
              <a:t>SETUP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5925312"/>
            <a:ext cx="10296144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>
                <a:solidFill>
                  <a:srgbClr val="344256"/>
                </a:solidFill>
                <a:latin typeface="Arial"/>
              </a:rPr>
              <a:t>The setup uses fixed sampled subsets to make the experiment reproducible. This supports relative method comparison, while the report still treats exact numbers as sample-dependent reference values.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55080"/>
            <a:ext cx="10607040" cy="9144"/>
          </a:xfrm>
          <a:prstGeom prst="rect">
            <a:avLst/>
          </a:prstGeom>
          <a:solidFill>
            <a:srgbClr val="CE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6656" y="6419088"/>
            <a:ext cx="98755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344256"/>
                </a:solidFill>
                <a:latin typeface="Arial"/>
              </a:rPr>
              <a:t>Each model-method run covers 130 fixed questions, making relative comparisons easier to audit.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0"/>
            <a:ext cx="45720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47472"/>
            <a:ext cx="53035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1E5B9E"/>
                </a:solidFill>
                <a:latin typeface="Courier New"/>
              </a:rPr>
              <a:t>EXPERIMENT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347472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1">
                <a:solidFill>
                  <a:srgbClr val="647084"/>
                </a:solidFill>
                <a:latin typeface="Courier New"/>
              </a:rPr>
              <a:t>04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789920" cy="7498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8212F"/>
                </a:solidFill>
                <a:latin typeface="Georgia"/>
              </a:rPr>
              <a:t>The experiment records the full reasoning trajectory, not only the final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1042416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647084"/>
                </a:solidFill>
                <a:latin typeface="Arial"/>
              </a:rPr>
              <a:t>This is the key design choice that makes multi-stage methods comparable.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11680"/>
            <a:ext cx="2505456" cy="2834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011680"/>
            <a:ext cx="2505456" cy="73152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04288"/>
            <a:ext cx="2176272" cy="5120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E5B9E"/>
                </a:solidFill>
                <a:latin typeface="Georgia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99232"/>
            <a:ext cx="217627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212F"/>
                </a:solidFill>
                <a:latin typeface="Arial"/>
              </a:rPr>
              <a:t>Sample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11296"/>
            <a:ext cx="2176272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084"/>
                </a:solidFill>
                <a:latin typeface="Arial"/>
              </a:rPr>
              <a:t>Use fixed subsets so every method sees the same 130 questions per model.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9856" y="2011680"/>
            <a:ext cx="2505456" cy="2834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19856" y="2011680"/>
            <a:ext cx="2505456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2304288"/>
            <a:ext cx="2176272" cy="5120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0F766E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999232"/>
            <a:ext cx="217627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212F"/>
                </a:solidFill>
                <a:latin typeface="Arial"/>
              </a:rPr>
              <a:t>Infer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3511296"/>
            <a:ext cx="2176272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084"/>
                </a:solidFill>
                <a:latin typeface="Arial"/>
              </a:rPr>
              <a:t>Store final response plus intermediate plans, critiques, samples, or tool transcripts.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9904" y="2011680"/>
            <a:ext cx="2505456" cy="2834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89904" y="2011680"/>
            <a:ext cx="2505456" cy="73152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4496" y="2304288"/>
            <a:ext cx="2176272" cy="5120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B7791F"/>
                </a:solidFill>
                <a:latin typeface="Georgia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4496" y="2999232"/>
            <a:ext cx="217627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212F"/>
                </a:solidFill>
                <a:latin typeface="Arial"/>
              </a:rPr>
              <a:t>Grade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3511296"/>
            <a:ext cx="2176272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084"/>
                </a:solidFill>
                <a:latin typeface="Arial"/>
              </a:rPr>
              <a:t>Extract final answers with one parser and compare by mathematical equivalence.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59952" y="2011680"/>
            <a:ext cx="2505456" cy="2834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59952" y="2011680"/>
            <a:ext cx="2505456" cy="73152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24544" y="2304288"/>
            <a:ext cx="2176272" cy="5120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2F855A"/>
                </a:solidFill>
                <a:latin typeface="Georgia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4544" y="2999232"/>
            <a:ext cx="217627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212F"/>
                </a:solidFill>
                <a:latin typeface="Arial"/>
              </a:rPr>
              <a:t>Aggregate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24544" y="3511296"/>
            <a:ext cx="2176272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084"/>
                </a:solidFill>
                <a:latin typeface="Arial"/>
              </a:rPr>
              <a:t>Compute joint score and factor diagnostics by model, method, and dataset.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" y="5650992"/>
            <a:ext cx="10771632" cy="548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4944" y="5650992"/>
            <a:ext cx="54864" cy="54864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8" y="5733288"/>
            <a:ext cx="1325880" cy="146304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765292"/>
            <a:ext cx="1170432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600" b="1">
                <a:solidFill>
                  <a:srgbClr val="1E5B9E"/>
                </a:solidFill>
                <a:latin typeface="Courier New"/>
              </a:rPr>
              <a:t>DESIGN LENS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85248" y="5765292"/>
            <a:ext cx="1097280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600" b="1">
                <a:solidFill>
                  <a:srgbClr val="647084"/>
                </a:solidFill>
                <a:latin typeface="Courier New"/>
              </a:rPr>
              <a:t>PIPELINE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5925312"/>
            <a:ext cx="10296144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>
                <a:solidFill>
                  <a:srgbClr val="344256"/>
                </a:solidFill>
                <a:latin typeface="Arial"/>
              </a:rPr>
              <a:t>For multi-stage methods, the intermediate plan, critique, voted samples, and tool transcript are part of the method. Counting them avoids underestimating the real computational behavior.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6355080"/>
            <a:ext cx="10607040" cy="9144"/>
          </a:xfrm>
          <a:prstGeom prst="rect">
            <a:avLst/>
          </a:prstGeom>
          <a:solidFill>
            <a:srgbClr val="CE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" y="6419088"/>
            <a:ext cx="98755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344256"/>
                </a:solidFill>
                <a:latin typeface="Arial"/>
              </a:rPr>
              <a:t>The evaluation unit is the complete solving trajectory, because hidden generations are part of the method.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0"/>
            <a:ext cx="45720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47472"/>
            <a:ext cx="53035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1E5B9E"/>
                </a:solidFill>
                <a:latin typeface="Courier New"/>
              </a:rPr>
              <a:t>METHOD TAXONOMY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347472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1">
                <a:solidFill>
                  <a:srgbClr val="647084"/>
                </a:solidFill>
                <a:latin typeface="Courier New"/>
              </a:rPr>
              <a:t>05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789920" cy="7498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8212F"/>
                </a:solidFill>
                <a:latin typeface="Georgia"/>
              </a:rPr>
              <a:t>Three intervention levels: prompt context, inference structure, and tool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1042416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647084"/>
                </a:solidFill>
                <a:latin typeface="Arial"/>
              </a:rPr>
              <a:t>The taxonomy prevents unfair comparison between prompt-only and tool-augmented methods.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938528"/>
            <a:ext cx="3358896" cy="3273552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938528"/>
            <a:ext cx="3358896" cy="73152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157984"/>
            <a:ext cx="3029712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Prompt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88336"/>
            <a:ext cx="3029712" cy="7680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1E5B9E"/>
                </a:solidFill>
                <a:latin typeface="Courier New"/>
              </a:rPr>
              <a:t>cot_zero</a:t>
            </a:r>
          </a:p>
          <a:p>
            <a:pPr algn="l"/>
            <a:r>
              <a:rPr sz="1100" b="1">
                <a:solidFill>
                  <a:srgbClr val="1E5B9E"/>
                </a:solidFill>
                <a:latin typeface="Courier New"/>
              </a:rPr>
              <a:t>cot_few_shot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30752"/>
            <a:ext cx="3029712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Single-turn prompt changes; cleanest assignment-aligned baselines.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8160" y="1938528"/>
            <a:ext cx="3358896" cy="3273552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28160" y="1938528"/>
            <a:ext cx="3358896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2752" y="2157984"/>
            <a:ext cx="3029712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Inference 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92752" y="2688336"/>
            <a:ext cx="3029712" cy="7680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0F766E"/>
                </a:solidFill>
                <a:latin typeface="Courier New"/>
              </a:rPr>
              <a:t>self_refine</a:t>
            </a:r>
          </a:p>
          <a:p>
            <a:pPr algn="l"/>
            <a:r>
              <a:rPr sz="1100" b="1">
                <a:solidFill>
                  <a:srgbClr val="0F766E"/>
                </a:solidFill>
                <a:latin typeface="Courier New"/>
              </a:rPr>
              <a:t>self_consistency</a:t>
            </a:r>
          </a:p>
          <a:p>
            <a:pPr algn="l"/>
            <a:r>
              <a:rPr sz="1100" b="1">
                <a:solidFill>
                  <a:srgbClr val="0F766E"/>
                </a:solidFill>
                <a:latin typeface="Courier New"/>
              </a:rPr>
              <a:t>plan_solve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92752" y="3730752"/>
            <a:ext cx="3029712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Critique, repeated sampling, or explicit decomposition changes the reasoning trajectory.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6512" y="1938528"/>
            <a:ext cx="3358896" cy="3273552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6512" y="1938528"/>
            <a:ext cx="3358896" cy="73152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71104" y="2157984"/>
            <a:ext cx="3029712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Tool loop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71104" y="2688336"/>
            <a:ext cx="3029712" cy="7680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1">
                <a:solidFill>
                  <a:srgbClr val="B7791F"/>
                </a:solidFill>
                <a:latin typeface="Courier New"/>
              </a:rPr>
              <a:t>tir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1104" y="3730752"/>
            <a:ext cx="3029712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The model can emit Python, observe the output, and continue reasoning.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" y="5650992"/>
            <a:ext cx="10771632" cy="548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4944" y="5650992"/>
            <a:ext cx="54864" cy="54864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1248" y="5733288"/>
            <a:ext cx="1325880" cy="146304"/>
          </a:xfrm>
          <a:prstGeom prst="roundRect">
            <a:avLst/>
          </a:prstGeom>
          <a:solidFill>
            <a:srgbClr val="FFF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765292"/>
            <a:ext cx="1170432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600" b="1">
                <a:solidFill>
                  <a:srgbClr val="B7791F"/>
                </a:solidFill>
                <a:latin typeface="Courier New"/>
              </a:rPr>
              <a:t>COMPARISON RULE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85248" y="5765292"/>
            <a:ext cx="1097280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600" b="1">
                <a:solidFill>
                  <a:srgbClr val="647084"/>
                </a:solidFill>
                <a:latin typeface="Courier New"/>
              </a:rPr>
              <a:t>METHOD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5925312"/>
            <a:ext cx="10296144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>
                <a:solidFill>
                  <a:srgbClr val="344256"/>
                </a:solidFill>
                <a:latin typeface="Arial"/>
              </a:rPr>
              <a:t>The taxonomy separates methods by what they change: the prompt text, the inference trajectory, or the system boundary. This prevents treating tool-augmented gains as ordinary prompt-only gains.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55080"/>
            <a:ext cx="10607040" cy="9144"/>
          </a:xfrm>
          <a:prstGeom prst="rect">
            <a:avLst/>
          </a:prstGeom>
          <a:solidFill>
            <a:srgbClr val="CE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6419088"/>
            <a:ext cx="98755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344256"/>
                </a:solidFill>
                <a:latin typeface="Arial"/>
              </a:rPr>
              <a:t>Similar score gains can come from very different additional computation budgets.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0"/>
            <a:ext cx="45720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47472"/>
            <a:ext cx="53035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1E5B9E"/>
                </a:solidFill>
                <a:latin typeface="Courier New"/>
              </a:rPr>
              <a:t>DIALOGUE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347472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1">
                <a:solidFill>
                  <a:srgbClr val="647084"/>
                </a:solidFill>
                <a:latin typeface="Courier New"/>
              </a:rPr>
              <a:t>06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789920" cy="7498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8212F"/>
                </a:solidFill>
                <a:latin typeface="Georgia"/>
              </a:rPr>
              <a:t>Single-turn, multi-sample, multi-turn, and tool-loop methods have different cost surfaces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1042416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647084"/>
                </a:solidFill>
                <a:latin typeface="Arial"/>
              </a:rPr>
              <a:t>The dialogue pattern is part of the method, so it must be counted in evaluation.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39696"/>
            <a:ext cx="2505456" cy="233172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139696"/>
            <a:ext cx="2505456" cy="64008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40864"/>
            <a:ext cx="217627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Single-turn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98063"/>
            <a:ext cx="2176272" cy="1563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CoT zero-shot and few-shot produce one final response; final length equals total length.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9856" y="2139696"/>
            <a:ext cx="2505456" cy="233172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19856" y="2139696"/>
            <a:ext cx="2505456" cy="6400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340864"/>
            <a:ext cx="217627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Multi-sample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2798063"/>
            <a:ext cx="2176272" cy="1563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Self-Consistency launches five independent solutions before voting; total cost grows linearly.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89904" y="2139696"/>
            <a:ext cx="2505456" cy="233172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89904" y="2139696"/>
            <a:ext cx="2505456" cy="64008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4496" y="2340864"/>
            <a:ext cx="217627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Multi-turn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4496" y="2798063"/>
            <a:ext cx="2176272" cy="1563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Self-Refine and Plan-and-Solve split reasoning into stages, so intermediate text must be counted.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59952" y="2139696"/>
            <a:ext cx="2505456" cy="233172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2139696"/>
            <a:ext cx="2505456" cy="64008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24544" y="2340864"/>
            <a:ext cx="217627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Tool-loop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4544" y="2798063"/>
            <a:ext cx="2176272" cy="156362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TIR inserts Python actions and observations; the transcript becomes part of the solving cost.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4944" y="5650992"/>
            <a:ext cx="10771632" cy="548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4944" y="5650992"/>
            <a:ext cx="54864" cy="5486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41248" y="5733288"/>
            <a:ext cx="1325880" cy="146304"/>
          </a:xfrm>
          <a:prstGeom prst="roundRect">
            <a:avLst/>
          </a:prstGeom>
          <a:solidFill>
            <a:srgbClr val="E7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5765292"/>
            <a:ext cx="1170432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600" b="1">
                <a:solidFill>
                  <a:srgbClr val="0F766E"/>
                </a:solidFill>
                <a:latin typeface="Courier New"/>
              </a:rPr>
              <a:t>METHOD READ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85248" y="5765292"/>
            <a:ext cx="1097280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600" b="1">
                <a:solidFill>
                  <a:srgbClr val="647084"/>
                </a:solidFill>
                <a:latin typeface="Courier New"/>
              </a:rPr>
              <a:t>BEHAVIOR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5925312"/>
            <a:ext cx="10296144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>
                <a:solidFill>
                  <a:srgbClr val="344256"/>
                </a:solidFill>
                <a:latin typeface="Arial"/>
              </a:rPr>
              <a:t>A single response, five sampled responses, staged dialogue, and action-observation loop all expose different costs. The evaluation therefore uses total generated length rather than only final answer length.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55080"/>
            <a:ext cx="10607040" cy="9144"/>
          </a:xfrm>
          <a:prstGeom prst="rect">
            <a:avLst/>
          </a:prstGeom>
          <a:solidFill>
            <a:srgbClr val="CE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6419088"/>
            <a:ext cx="98755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344256"/>
                </a:solidFill>
                <a:latin typeface="Arial"/>
              </a:rPr>
              <a:t>A fair comparison needs both final answer quality and full trajectory accounting.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0"/>
            <a:ext cx="45720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47472"/>
            <a:ext cx="53035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1E5B9E"/>
                </a:solidFill>
                <a:latin typeface="Courier New"/>
              </a:rPr>
              <a:t>PROMPT DESIGN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347472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1">
                <a:solidFill>
                  <a:srgbClr val="647084"/>
                </a:solidFill>
                <a:latin typeface="Courier New"/>
              </a:rPr>
              <a:t>07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789920" cy="7498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8212F"/>
                </a:solidFill>
                <a:latin typeface="Georgia"/>
              </a:rPr>
              <a:t>Small reasoning models fail in more than one 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1042416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647084"/>
                </a:solidFill>
                <a:latin typeface="Arial"/>
              </a:rPr>
              <a:t>A wrong answer is only the visible end of several behavioral failure modes.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39696"/>
            <a:ext cx="3395472" cy="205740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139696"/>
            <a:ext cx="3395472" cy="64008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40864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Missing-step errors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98063"/>
            <a:ext cx="3066288" cy="1289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The model starts solving before identifying all required operations.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9872" y="2139696"/>
            <a:ext cx="3395472" cy="205740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9872" y="2139696"/>
            <a:ext cx="3395472" cy="6400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4464" y="2340864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Overlong reasoning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4464" y="2798063"/>
            <a:ext cx="3066288" cy="1289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The model keeps generating even after the useful reasoning signal has peaked.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9936" y="2139696"/>
            <a:ext cx="3395472" cy="205740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69936" y="2139696"/>
            <a:ext cx="3395472" cy="64008"/>
          </a:xfrm>
          <a:prstGeom prst="rect">
            <a:avLst/>
          </a:prstGeom>
          <a:solidFill>
            <a:srgbClr val="B423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4528" y="2340864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Unstable final answers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4528" y="2798063"/>
            <a:ext cx="3066288" cy="1289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The model repeats answer cues, revises late, or continues after the answer.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4944" y="5650992"/>
            <a:ext cx="10771632" cy="548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4944" y="5650992"/>
            <a:ext cx="54864" cy="54864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41248" y="5733288"/>
            <a:ext cx="1325880" cy="146304"/>
          </a:xfrm>
          <a:prstGeom prst="roundRect">
            <a:avLst/>
          </a:prstGeom>
          <a:solidFill>
            <a:srgbClr val="FFF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765292"/>
            <a:ext cx="1170432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600" b="1">
                <a:solidFill>
                  <a:srgbClr val="B7791F"/>
                </a:solidFill>
                <a:latin typeface="Courier New"/>
              </a:rPr>
              <a:t>FAILURE LENS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85248" y="5765292"/>
            <a:ext cx="1097280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600" b="1">
                <a:solidFill>
                  <a:srgbClr val="647084"/>
                </a:solidFill>
                <a:latin typeface="Courier New"/>
              </a:rPr>
              <a:t>PROMPT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5925312"/>
            <a:ext cx="10296144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>
                <a:solidFill>
                  <a:srgbClr val="344256"/>
                </a:solidFill>
                <a:latin typeface="Arial"/>
              </a:rPr>
              <a:t>The prompt design targets failure modes beyond final wrongness: missing early steps, excessive derivation, and unstable answer formatting. These behaviors motivate both Plan-and-Solve and the factorized metric.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355080"/>
            <a:ext cx="10607040" cy="9144"/>
          </a:xfrm>
          <a:prstGeom prst="rect">
            <a:avLst/>
          </a:prstGeom>
          <a:solidFill>
            <a:srgbClr val="CE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6419088"/>
            <a:ext cx="98755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344256"/>
                </a:solidFill>
                <a:latin typeface="Arial"/>
              </a:rPr>
              <a:t>The prompt design should reduce planning errors, and the metric should expose inefficient reasoning behavior.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0"/>
            <a:ext cx="45720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47472"/>
            <a:ext cx="53035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1E5B9E"/>
                </a:solidFill>
                <a:latin typeface="Courier New"/>
              </a:rPr>
              <a:t>METHOD CHARACTERISTICS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347472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1">
                <a:solidFill>
                  <a:srgbClr val="647084"/>
                </a:solidFill>
                <a:latin typeface="Courier New"/>
              </a:rPr>
              <a:t>08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789920" cy="7498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8212F"/>
                </a:solidFill>
                <a:latin typeface="Georgia"/>
              </a:rPr>
              <a:t>Each method changes a different part of the reasoning process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1042416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647084"/>
                </a:solidFill>
                <a:latin typeface="Arial"/>
              </a:rPr>
              <a:t>The methods are not only prompt names; each one implies a different dialogue and compute pattern.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39696"/>
            <a:ext cx="3395472" cy="1298448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139696"/>
            <a:ext cx="3395472" cy="64008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40864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CoT zero-shot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98063"/>
            <a:ext cx="3066288" cy="5303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One response. Tests whether step-by-step instruction alone can trigger useful reasoning.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9872" y="2139696"/>
            <a:ext cx="3395472" cy="1298448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9872" y="2139696"/>
            <a:ext cx="3395472" cy="6400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4464" y="2340864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CoT few-shot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4464" y="2798063"/>
            <a:ext cx="3066288" cy="5303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One response with demonstrations. Guides style, but examples can also bias format.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9936" y="2139696"/>
            <a:ext cx="3395472" cy="1298448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69936" y="2139696"/>
            <a:ext cx="3395472" cy="64008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4528" y="2340864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Self-Refine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4528" y="2798063"/>
            <a:ext cx="3066288" cy="5303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Solve, critique, rewrite. Useful when the model can detect its own mistakes.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9808" y="3639311"/>
            <a:ext cx="3395472" cy="1298448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8" y="3639311"/>
            <a:ext cx="3395472" cy="64008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840479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Self-Consistency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297679"/>
            <a:ext cx="3066288" cy="5303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Five independent paths plus voting. Robust but the most expensive baseline.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09872" y="3639311"/>
            <a:ext cx="3395472" cy="1298448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09872" y="3639311"/>
            <a:ext cx="3395472" cy="64008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74464" y="3840479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Plan-and-Solve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4464" y="4297679"/>
            <a:ext cx="3066288" cy="5303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Plan first, solve second. Targets missing-step errors without external tools.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69936" y="3639311"/>
            <a:ext cx="3395472" cy="1298448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9936" y="3639311"/>
            <a:ext cx="3395472" cy="6400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34528" y="3840479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TIR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34528" y="4297679"/>
            <a:ext cx="3066288" cy="5303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Reason, call Python, observe, continue. Strong but tool-augmented rather than prompt-only.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" y="5650992"/>
            <a:ext cx="10771632" cy="548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4944" y="5650992"/>
            <a:ext cx="54864" cy="5486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41248" y="5733288"/>
            <a:ext cx="1325880" cy="146304"/>
          </a:xfrm>
          <a:prstGeom prst="roundRect">
            <a:avLst/>
          </a:prstGeom>
          <a:solidFill>
            <a:srgbClr val="E7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6112" y="5765292"/>
            <a:ext cx="1170432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600" b="1">
                <a:solidFill>
                  <a:srgbClr val="0F766E"/>
                </a:solidFill>
                <a:latin typeface="Courier New"/>
              </a:rPr>
              <a:t>METHOD READ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85248" y="5765292"/>
            <a:ext cx="1097280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600" b="1">
                <a:solidFill>
                  <a:srgbClr val="647084"/>
                </a:solidFill>
                <a:latin typeface="Courier New"/>
              </a:rPr>
              <a:t>BEHAVIOR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" y="5925312"/>
            <a:ext cx="10296144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>
                <a:solidFill>
                  <a:srgbClr val="344256"/>
                </a:solidFill>
                <a:latin typeface="Arial"/>
              </a:rPr>
              <a:t>The six methods represent distinct mechanisms: instruction, demonstration, self-critique, sampling, pre-solution planning, and external computation. This makes method interpretation more important than just ranking.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55080"/>
            <a:ext cx="10607040" cy="9144"/>
          </a:xfrm>
          <a:prstGeom prst="rect">
            <a:avLst/>
          </a:prstGeom>
          <a:solidFill>
            <a:srgbClr val="CE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" y="6419088"/>
            <a:ext cx="98755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344256"/>
                </a:solidFill>
                <a:latin typeface="Arial"/>
              </a:rPr>
              <a:t>The most important contrast is not baseline versus extension, but where extra reasoning budget enters the system.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0"/>
            <a:ext cx="45720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47472"/>
            <a:ext cx="53035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1E5B9E"/>
                </a:solidFill>
                <a:latin typeface="Courier New"/>
              </a:rPr>
              <a:t>PROMPT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347472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1">
                <a:solidFill>
                  <a:srgbClr val="647084"/>
                </a:solidFill>
                <a:latin typeface="Courier New"/>
              </a:rPr>
              <a:t>09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789920" cy="7498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8212F"/>
                </a:solidFill>
                <a:latin typeface="Georgia"/>
              </a:rPr>
              <a:t>Plan-and-Solve moves structure before execution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1042416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647084"/>
                </a:solidFill>
                <a:latin typeface="Arial"/>
              </a:rPr>
              <a:t>The proposed prompt-only method asks the model to plan first, then solve according to the plan.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11680"/>
            <a:ext cx="3395472" cy="2834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011680"/>
            <a:ext cx="3395472" cy="73152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04288"/>
            <a:ext cx="3066288" cy="5120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E5B9E"/>
                </a:solidFill>
                <a:latin typeface="Georgia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99232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212F"/>
                </a:solidFill>
                <a:latin typeface="Arial"/>
              </a:rPr>
              <a:t>Plan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11296"/>
            <a:ext cx="3066288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084"/>
                </a:solidFill>
                <a:latin typeface="Arial"/>
              </a:rPr>
              <a:t>Write a short numbered decomposition of the mathematical task.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09872" y="2011680"/>
            <a:ext cx="3395472" cy="2834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09872" y="2011680"/>
            <a:ext cx="3395472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74464" y="2304288"/>
            <a:ext cx="3066288" cy="5120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0F766E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4464" y="2999232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212F"/>
                </a:solidFill>
                <a:latin typeface="Arial"/>
              </a:rPr>
              <a:t>Solve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4464" y="3511296"/>
            <a:ext cx="3066288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084"/>
                </a:solidFill>
                <a:latin typeface="Arial"/>
              </a:rPr>
              <a:t>Follow the plan step by step, avoiding unsupported jumps.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9936" y="2011680"/>
            <a:ext cx="3395472" cy="2834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869936" y="2011680"/>
            <a:ext cx="3395472" cy="73152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34528" y="2304288"/>
            <a:ext cx="3066288" cy="5120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B7791F"/>
                </a:solidFill>
                <a:latin typeface="Georgia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34528" y="2999232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212F"/>
                </a:solidFill>
                <a:latin typeface="Arial"/>
              </a:rPr>
              <a:t>Finalize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34528" y="3511296"/>
            <a:ext cx="3066288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084"/>
                </a:solidFill>
                <a:latin typeface="Arial"/>
              </a:rPr>
              <a:t>Return one clear final answer for parsing and grading.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4944" y="5650992"/>
            <a:ext cx="10771632" cy="548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4944" y="5650992"/>
            <a:ext cx="54864" cy="54864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41248" y="5733288"/>
            <a:ext cx="1325880" cy="146304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6112" y="5765292"/>
            <a:ext cx="1170432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600" b="1">
                <a:solidFill>
                  <a:srgbClr val="1E5B9E"/>
                </a:solidFill>
                <a:latin typeface="Courier New"/>
              </a:rPr>
              <a:t>DESIGN LENS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85248" y="5765292"/>
            <a:ext cx="1097280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600" b="1">
                <a:solidFill>
                  <a:srgbClr val="647084"/>
                </a:solidFill>
                <a:latin typeface="Courier New"/>
              </a:rPr>
              <a:t>PIPELINE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" y="5925312"/>
            <a:ext cx="10296144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>
                <a:solidFill>
                  <a:srgbClr val="344256"/>
                </a:solidFill>
                <a:latin typeface="Arial"/>
              </a:rPr>
              <a:t>Plan-and-Solve is the main prompt-only innovation because it encourages problem decomposition before arithmetic execution. It is easy to compare fairly against CoT and refinement baselines.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55080"/>
            <a:ext cx="10607040" cy="9144"/>
          </a:xfrm>
          <a:prstGeom prst="rect">
            <a:avLst/>
          </a:prstGeom>
          <a:solidFill>
            <a:srgbClr val="CE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6419088"/>
            <a:ext cx="98755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344256"/>
                </a:solidFill>
                <a:latin typeface="Arial"/>
              </a:rPr>
              <a:t>Plan-and-Solve is fair against prompt-only baselines because it adds structure without external tools.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0"/>
            <a:ext cx="45720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47472"/>
            <a:ext cx="53035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1E5B9E"/>
                </a:solidFill>
                <a:latin typeface="Courier New"/>
              </a:rPr>
              <a:t>AGENTIC EXTENSION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347472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1">
                <a:solidFill>
                  <a:srgbClr val="647084"/>
                </a:solidFill>
                <a:latin typeface="Courier New"/>
              </a:rPr>
              <a:t>10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789920" cy="7498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8212F"/>
                </a:solidFill>
                <a:latin typeface="Georgia"/>
              </a:rPr>
              <a:t>TIR turns math solving into a compact action-observation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1042416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647084"/>
                </a:solidFill>
                <a:latin typeface="Arial"/>
              </a:rPr>
              <a:t>Tool-Integrated Reasoning is not prompt-only; it is a small agentic workflow.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11680"/>
            <a:ext cx="2505456" cy="2834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011680"/>
            <a:ext cx="2505456" cy="73152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04288"/>
            <a:ext cx="2176272" cy="5120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E5B9E"/>
                </a:solidFill>
                <a:latin typeface="Georgia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99232"/>
            <a:ext cx="217627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212F"/>
                </a:solidFill>
                <a:latin typeface="Arial"/>
              </a:rPr>
              <a:t>Reason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11296"/>
            <a:ext cx="2176272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084"/>
                </a:solidFill>
                <a:latin typeface="Arial"/>
              </a:rPr>
              <a:t>Identify whether the next step needs reliable computation.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9856" y="2011680"/>
            <a:ext cx="2505456" cy="2834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19856" y="2011680"/>
            <a:ext cx="2505456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2304288"/>
            <a:ext cx="2176272" cy="5120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0F766E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999232"/>
            <a:ext cx="217627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212F"/>
                </a:solidFill>
                <a:latin typeface="Arial"/>
              </a:rPr>
              <a:t>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3511296"/>
            <a:ext cx="2176272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084"/>
                </a:solidFill>
                <a:latin typeface="Arial"/>
              </a:rPr>
              <a:t>Emit executable Python when arithmetic or symbolic work is useful.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9904" y="2011680"/>
            <a:ext cx="2505456" cy="2834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89904" y="2011680"/>
            <a:ext cx="2505456" cy="73152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4496" y="2304288"/>
            <a:ext cx="2176272" cy="5120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B7791F"/>
                </a:solidFill>
                <a:latin typeface="Georgia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4496" y="2999232"/>
            <a:ext cx="217627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212F"/>
                </a:solidFill>
                <a:latin typeface="Arial"/>
              </a:rPr>
              <a:t>Observe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3511296"/>
            <a:ext cx="2176272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084"/>
                </a:solidFill>
                <a:latin typeface="Arial"/>
              </a:rPr>
              <a:t>Read the tool output as evidence for the next reasoning step.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59952" y="2011680"/>
            <a:ext cx="2505456" cy="2834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59952" y="2011680"/>
            <a:ext cx="2505456" cy="73152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24544" y="2304288"/>
            <a:ext cx="2176272" cy="5120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2F855A"/>
                </a:solidFill>
                <a:latin typeface="Georgia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4544" y="2999232"/>
            <a:ext cx="217627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212F"/>
                </a:solidFill>
                <a:latin typeface="Arial"/>
              </a:rPr>
              <a:t>Continue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24544" y="3511296"/>
            <a:ext cx="2176272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084"/>
                </a:solidFill>
                <a:latin typeface="Arial"/>
              </a:rPr>
              <a:t>Update the solution and produce a final answer.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" y="5650992"/>
            <a:ext cx="10771632" cy="548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4944" y="5650992"/>
            <a:ext cx="54864" cy="54864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8" y="5733288"/>
            <a:ext cx="1325880" cy="146304"/>
          </a:xfrm>
          <a:prstGeom prst="roundRect">
            <a:avLst/>
          </a:prstGeom>
          <a:solidFill>
            <a:srgbClr val="FFF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765292"/>
            <a:ext cx="1170432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600" b="1">
                <a:solidFill>
                  <a:srgbClr val="B7791F"/>
                </a:solidFill>
                <a:latin typeface="Courier New"/>
              </a:rPr>
              <a:t>AGENTIC ANGLE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85248" y="5765292"/>
            <a:ext cx="1097280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600" b="1">
                <a:solidFill>
                  <a:srgbClr val="647084"/>
                </a:solidFill>
                <a:latin typeface="Courier New"/>
              </a:rPr>
              <a:t>REASONING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5925312"/>
            <a:ext cx="10296144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>
                <a:solidFill>
                  <a:srgbClr val="344256"/>
                </a:solidFill>
                <a:latin typeface="Arial"/>
              </a:rPr>
              <a:t>TIR is framed as a small agentic extension. Its value is not merely higher score, but the ability to externalize exact computation and feed the observation back into reasoning.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6355080"/>
            <a:ext cx="10607040" cy="9144"/>
          </a:xfrm>
          <a:prstGeom prst="rect">
            <a:avLst/>
          </a:prstGeom>
          <a:solidFill>
            <a:srgbClr val="CE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" y="6419088"/>
            <a:ext cx="98755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344256"/>
                </a:solidFill>
                <a:latin typeface="Arial"/>
              </a:rPr>
              <a:t>TIR is closest to a ReAct-style solver loop, but with a narrow mathematical tool boundary.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0"/>
            <a:ext cx="45720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47472"/>
            <a:ext cx="53035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1E5B9E"/>
                </a:solidFill>
                <a:latin typeface="Courier New"/>
              </a:rPr>
              <a:t>EVALUATION 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347472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1">
                <a:solidFill>
                  <a:srgbClr val="647084"/>
                </a:solidFill>
                <a:latin typeface="Courier New"/>
              </a:rPr>
              <a:t>11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789920" cy="7498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8212F"/>
                </a:solidFill>
                <a:latin typeface="Georgia"/>
              </a:rPr>
              <a:t>Single metrics hide different failure modes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1042416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647084"/>
                </a:solidFill>
                <a:latin typeface="Arial"/>
              </a:rPr>
              <a:t>Once methods become multi-stage, accuracy and length stop telling the same 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39696"/>
            <a:ext cx="3395472" cy="205740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139696"/>
            <a:ext cx="3395472" cy="64008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40864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Accuracy-first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98063"/>
            <a:ext cx="3066288" cy="1289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Wrong answers receive zero, so the score never rewards a short but incorrect response.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9872" y="2139696"/>
            <a:ext cx="3395472" cy="205740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9872" y="2139696"/>
            <a:ext cx="3395472" cy="6400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4464" y="2340864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Full trajectory cost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4464" y="2798063"/>
            <a:ext cx="3066288" cy="1289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Plans, critiques, five samples, and tool transcripts are counted as generated reasoning cost.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9936" y="2139696"/>
            <a:ext cx="3395472" cy="205740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69936" y="2139696"/>
            <a:ext cx="3395472" cy="64008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4528" y="2340864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Behavior diagnostics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4528" y="2798063"/>
            <a:ext cx="3066288" cy="1289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Answer, length, and reflection factors explain why two correct methods differ.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4944" y="5650992"/>
            <a:ext cx="10771632" cy="548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4944" y="5650992"/>
            <a:ext cx="54864" cy="5486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41248" y="5733288"/>
            <a:ext cx="1325880" cy="146304"/>
          </a:xfrm>
          <a:prstGeom prst="roundRect">
            <a:avLst/>
          </a:prstGeom>
          <a:solidFill>
            <a:srgbClr val="E7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765292"/>
            <a:ext cx="1170432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600" b="1">
                <a:solidFill>
                  <a:srgbClr val="0F766E"/>
                </a:solidFill>
                <a:latin typeface="Courier New"/>
              </a:rPr>
              <a:t>METRIC LOGIC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85248" y="5765292"/>
            <a:ext cx="1097280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600" b="1">
                <a:solidFill>
                  <a:srgbClr val="647084"/>
                </a:solidFill>
                <a:latin typeface="Courier New"/>
              </a:rPr>
              <a:t>EVALUATION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5925312"/>
            <a:ext cx="10296144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>
                <a:solidFill>
                  <a:srgbClr val="344256"/>
                </a:solidFill>
                <a:latin typeface="Arial"/>
              </a:rPr>
              <a:t>Accuracy, final length, and total length each miss part of the story when used alone. The designed metric keeps accuracy central while exposing the cost and stability of the reasoning path.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355080"/>
            <a:ext cx="10607040" cy="9144"/>
          </a:xfrm>
          <a:prstGeom prst="rect">
            <a:avLst/>
          </a:prstGeom>
          <a:solidFill>
            <a:srgbClr val="CE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6419088"/>
            <a:ext cx="98755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344256"/>
                </a:solidFill>
                <a:latin typeface="Arial"/>
              </a:rPr>
              <a:t>The metric is designed to be accuracy-first, trajectory-aware, and interpretable during error analysis.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0"/>
            <a:ext cx="45720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47472"/>
            <a:ext cx="53035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1E5B9E"/>
                </a:solidFill>
                <a:latin typeface="Courier New"/>
              </a:rPr>
              <a:t>DESIGNED SCORE FORMULA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347472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1">
                <a:solidFill>
                  <a:srgbClr val="647084"/>
                </a:solidFill>
                <a:latin typeface="Courier New"/>
              </a:rPr>
              <a:t>12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789920" cy="7498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8212F"/>
                </a:solidFill>
                <a:latin typeface="Georgia"/>
              </a:rPr>
              <a:t>Correctness gates the score; efficiency adjusts the remaining 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1042416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647084"/>
                </a:solidFill>
                <a:latin typeface="Arial"/>
              </a:rPr>
              <a:t>The formula itself is part of the contribution, so it is rendered explicitly instead of being described only in prose.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1865376"/>
            <a:ext cx="1005840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34440" y="2066543"/>
            <a:ext cx="9418320" cy="658368"/>
          </a:xfrm>
          <a:prstGeom prst="rect">
            <a:avLst/>
          </a:prstGeom>
          <a:solidFill>
            <a:srgbClr val="F7F9FC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4440" y="2066543"/>
            <a:ext cx="54864" cy="658368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44752" y="2167127"/>
            <a:ext cx="9015984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8212F"/>
                </a:solidFill>
                <a:latin typeface="Georgia"/>
              </a:rPr>
              <a:t>η_i = a_i^0.5 · ℓ_i^0.3 · r_i^0.2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2459736"/>
            <a:ext cx="9015984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647084"/>
                </a:solidFill>
                <a:latin typeface="Arial"/>
              </a:rPr>
              <a:t>Efficiency is a weighted geometric mean of answer stability, length economy, and reflection control.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2907791"/>
            <a:ext cx="9418320" cy="658368"/>
          </a:xfrm>
          <a:prstGeom prst="rect">
            <a:avLst/>
          </a:prstGeom>
          <a:solidFill>
            <a:srgbClr val="F7F9FC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34440" y="2907791"/>
            <a:ext cx="54864" cy="658368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4752" y="3008375"/>
            <a:ext cx="9015984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8212F"/>
                </a:solidFill>
                <a:latin typeface="Georgia"/>
              </a:rPr>
              <a:t>s_i = c_i(0.6 + 0.4η_i),  c_i ∈ {0, 1}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3300984"/>
            <a:ext cx="9015984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647084"/>
                </a:solidFill>
                <a:latin typeface="Arial"/>
              </a:rPr>
              <a:t>Correctness gates the score: incorrect predictions receive zero regardless of brevity.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34440" y="3749039"/>
            <a:ext cx="9418320" cy="658368"/>
          </a:xfrm>
          <a:prstGeom prst="rect">
            <a:avLst/>
          </a:prstGeom>
          <a:solidFill>
            <a:srgbClr val="F7F9FC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234440" y="3749039"/>
            <a:ext cx="54864" cy="658368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44752" y="3849624"/>
            <a:ext cx="9015984" cy="21945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8212F"/>
                </a:solidFill>
                <a:latin typeface="Georgia"/>
              </a:rPr>
              <a:t>J = (1 / N) · Σ_i=1^N s_i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" y="4142231"/>
            <a:ext cx="9015984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647084"/>
                </a:solidFill>
                <a:latin typeface="Arial"/>
              </a:rPr>
              <a:t>The reported joint score averages sample-level scores over a model-method run.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102352"/>
            <a:ext cx="3267456" cy="182880"/>
          </a:xfrm>
          <a:prstGeom prst="rect">
            <a:avLst/>
          </a:prstGeom>
          <a:solidFill>
            <a:srgbClr val="E7F6F4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5143500"/>
            <a:ext cx="3121152" cy="91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650" b="1">
                <a:solidFill>
                  <a:srgbClr val="0F766E"/>
                </a:solidFill>
                <a:latin typeface="Georgia"/>
              </a:rPr>
              <a:t>A_i: answer-cue count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09872" y="5102352"/>
            <a:ext cx="3267456" cy="182880"/>
          </a:xfrm>
          <a:prstGeom prst="rect">
            <a:avLst/>
          </a:prstGeom>
          <a:solidFill>
            <a:srgbClr val="E7F6F4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5143500"/>
            <a:ext cx="3121152" cy="91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650" b="1">
                <a:solidFill>
                  <a:srgbClr val="0F766E"/>
                </a:solidFill>
                <a:latin typeface="Georgia"/>
              </a:rPr>
              <a:t>R_i: tail ratio after first cue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05344" y="5102352"/>
            <a:ext cx="3267456" cy="182880"/>
          </a:xfrm>
          <a:prstGeom prst="rect">
            <a:avLst/>
          </a:prstGeom>
          <a:solidFill>
            <a:srgbClr val="E7F6F4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8496" y="5143500"/>
            <a:ext cx="3121152" cy="91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650" b="1">
                <a:solidFill>
                  <a:srgbClr val="0F766E"/>
                </a:solidFill>
                <a:latin typeface="Georgia"/>
              </a:rPr>
              <a:t>L_i: total generated tokens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4400" y="5358384"/>
            <a:ext cx="3267456" cy="182880"/>
          </a:xfrm>
          <a:prstGeom prst="rect">
            <a:avLst/>
          </a:prstGeom>
          <a:solidFill>
            <a:srgbClr val="E7F6F4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" y="5399532"/>
            <a:ext cx="3121152" cy="91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650" b="1">
                <a:solidFill>
                  <a:srgbClr val="0F766E"/>
                </a:solidFill>
                <a:latin typeface="Georgia"/>
              </a:rPr>
              <a:t>F_i: reflection-cue count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09872" y="5358384"/>
            <a:ext cx="3267456" cy="182880"/>
          </a:xfrm>
          <a:prstGeom prst="rect">
            <a:avLst/>
          </a:prstGeom>
          <a:solidFill>
            <a:srgbClr val="E7F6F4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3024" y="5399532"/>
            <a:ext cx="3121152" cy="91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650" b="1">
                <a:solidFill>
                  <a:srgbClr val="0F766E"/>
                </a:solidFill>
                <a:latin typeface="Georgia"/>
              </a:rPr>
              <a:t>L_ref = 1024, τ_L = 512: length reference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05344" y="5358384"/>
            <a:ext cx="3267456" cy="182880"/>
          </a:xfrm>
          <a:prstGeom prst="rect">
            <a:avLst/>
          </a:prstGeom>
          <a:solidFill>
            <a:srgbClr val="E7F6F4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8496" y="5399532"/>
            <a:ext cx="3121152" cy="914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650" b="1">
                <a:solidFill>
                  <a:srgbClr val="0F766E"/>
                </a:solidFill>
                <a:latin typeface="Georgia"/>
              </a:rPr>
              <a:t>F_ref = 1, τ_F = 2: reflection reference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" y="5650992"/>
            <a:ext cx="10771632" cy="548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94944" y="5650992"/>
            <a:ext cx="54864" cy="54864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41248" y="5733288"/>
            <a:ext cx="1325880" cy="146304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6112" y="5765292"/>
            <a:ext cx="1170432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600" b="1">
                <a:solidFill>
                  <a:srgbClr val="1E5B9E"/>
                </a:solidFill>
                <a:latin typeface="Courier New"/>
              </a:rPr>
              <a:t>SCORE RULE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85248" y="5765292"/>
            <a:ext cx="1097280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600" b="1">
                <a:solidFill>
                  <a:srgbClr val="647084"/>
                </a:solidFill>
                <a:latin typeface="Courier New"/>
              </a:rPr>
              <a:t>FORMULA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" y="5925312"/>
            <a:ext cx="10296144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>
                <a:solidFill>
                  <a:srgbClr val="344256"/>
                </a:solidFill>
                <a:latin typeface="Arial"/>
              </a:rPr>
              <a:t>The formula is deliberately conservative: correctness is a prerequisite, then behavior factors adjust only the remaining credit. This protects against rewarding short but wrong outputs.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6355080"/>
            <a:ext cx="10607040" cy="9144"/>
          </a:xfrm>
          <a:prstGeom prst="rect">
            <a:avLst/>
          </a:prstGeom>
          <a:solidFill>
            <a:srgbClr val="CE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6656" y="6419088"/>
            <a:ext cx="98755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344256"/>
                </a:solidFill>
                <a:latin typeface="Arial"/>
              </a:rPr>
              <a:t>The 0.6 floor keeps correctness dominant, while the 0.4 modifier separates correct samples by behavior.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0"/>
            <a:ext cx="45720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47472"/>
            <a:ext cx="53035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1E5B9E"/>
                </a:solidFill>
                <a:latin typeface="Courier New"/>
              </a:rPr>
              <a:t>FACTOR DECOMPOSITION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347472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1">
                <a:solidFill>
                  <a:srgbClr val="647084"/>
                </a:solidFill>
                <a:latin typeface="Courier New"/>
              </a:rPr>
              <a:t>13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789920" cy="7498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8212F"/>
                </a:solidFill>
                <a:latin typeface="Georgia"/>
              </a:rPr>
              <a:t>Factor and variable design make the score interpretable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1042416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647084"/>
                </a:solidFill>
                <a:latin typeface="Arial"/>
              </a:rPr>
              <a:t>Each penalty is tied to a concrete observable variable instead of an opaque heuristic.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39696"/>
            <a:ext cx="3395472" cy="205740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139696"/>
            <a:ext cx="3395472" cy="64008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40864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Answer factor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98063"/>
            <a:ext cx="3066288" cy="1289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A_i counts answer cues such as boxed{} or “final answer”. The factor penalizes repeated declarations and long continuation after the first answer cue.</a:t>
            </a:r>
          </a:p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a_i = count_i · tail_i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9872" y="2139696"/>
            <a:ext cx="3395472" cy="205740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9872" y="2139696"/>
            <a:ext cx="3395472" cy="6400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4464" y="2340864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Length factor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4464" y="2798063"/>
            <a:ext cx="3066288" cy="1289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L_i is the total generated token count over all stages, including plans, critiques, sampled paths, and tool traces. Only over-budget generation is penalized.</a:t>
            </a:r>
          </a:p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ℓ_i = exp(-max(0, L_i - L_ref) / τ_L)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9936" y="2139696"/>
            <a:ext cx="3395472" cy="205740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69936" y="2139696"/>
            <a:ext cx="3395472" cy="64008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4528" y="2340864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Reflection factor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4528" y="2798063"/>
            <a:ext cx="3066288" cy="1289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F_i counts wait/check/verify/rethink cues. Reflection beyond the first cue is treated as unstable self-correction rather than useful structure.</a:t>
            </a:r>
          </a:p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r_i = exp(-max(0, F_i - F_ref) / τ_F)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4944" y="5650992"/>
            <a:ext cx="10771632" cy="548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4944" y="5650992"/>
            <a:ext cx="54864" cy="5486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41248" y="5733288"/>
            <a:ext cx="1325880" cy="146304"/>
          </a:xfrm>
          <a:prstGeom prst="roundRect">
            <a:avLst/>
          </a:prstGeom>
          <a:solidFill>
            <a:srgbClr val="E7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765292"/>
            <a:ext cx="1170432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600" b="1">
                <a:solidFill>
                  <a:srgbClr val="0F766E"/>
                </a:solidFill>
                <a:latin typeface="Courier New"/>
              </a:rPr>
              <a:t>FACTOR READ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85248" y="5765292"/>
            <a:ext cx="1097280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600" b="1">
                <a:solidFill>
                  <a:srgbClr val="647084"/>
                </a:solidFill>
                <a:latin typeface="Courier New"/>
              </a:rPr>
              <a:t>DIAGNOSTIC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5925312"/>
            <a:ext cx="10296144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>
                <a:solidFill>
                  <a:srgbClr val="344256"/>
                </a:solidFill>
                <a:latin typeface="Arial"/>
              </a:rPr>
              <a:t>The factor decomposition makes the score interpretable. A low score can be traced to over-generation, repeated answer cues, or excessive reflection rather than treated as an opaque penalty.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355080"/>
            <a:ext cx="10607040" cy="9144"/>
          </a:xfrm>
          <a:prstGeom prst="rect">
            <a:avLst/>
          </a:prstGeom>
          <a:solidFill>
            <a:srgbClr val="CE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6419088"/>
            <a:ext cx="98755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344256"/>
                </a:solidFill>
                <a:latin typeface="Arial"/>
              </a:rPr>
              <a:t>Low length, answer, or reflection factors point to different error-analysis stories.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0"/>
            <a:ext cx="45720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47472"/>
            <a:ext cx="53035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1E5B9E"/>
                </a:solidFill>
                <a:latin typeface="Courier New"/>
              </a:rPr>
              <a:t>DESIGNED SCORE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347472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1">
                <a:solidFill>
                  <a:srgbClr val="647084"/>
                </a:solidFill>
                <a:latin typeface="Courier New"/>
              </a:rPr>
              <a:t>14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789920" cy="7498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8212F"/>
                </a:solidFill>
                <a:latin typeface="Georgia"/>
              </a:rPr>
              <a:t>Joint score comparison highlights the proposed methods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1042416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647084"/>
                </a:solidFill>
                <a:latin typeface="Arial"/>
              </a:rPr>
              <a:t>The result slide uses only the custom accuracy-first joint score, not raw accuracy or raw length charts.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822960" y="1874519"/>
          <a:ext cx="10012680" cy="349300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94944" y="5650992"/>
            <a:ext cx="10771632" cy="548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4944" y="5650992"/>
            <a:ext cx="54864" cy="54864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8" y="5733288"/>
            <a:ext cx="1325880" cy="146304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5765292"/>
            <a:ext cx="1170432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600" b="1">
                <a:solidFill>
                  <a:srgbClr val="1E5B9E"/>
                </a:solidFill>
                <a:latin typeface="Courier New"/>
              </a:rPr>
              <a:t>RESULT READ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85248" y="5765292"/>
            <a:ext cx="1097280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600" b="1">
                <a:solidFill>
                  <a:srgbClr val="647084"/>
                </a:solidFill>
                <a:latin typeface="Courier New"/>
              </a:rPr>
              <a:t>OVERALL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925312"/>
            <a:ext cx="10296144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>
                <a:solidFill>
                  <a:srgbClr val="344256"/>
                </a:solidFill>
                <a:latin typeface="Arial"/>
              </a:rPr>
              <a:t>The result view focuses on the designed joint score because it is the evaluation contribution of the project. Plan-and-Solve leads prompt-only methods, while TIR shows the potential of tool-augmented solving.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55080"/>
            <a:ext cx="10607040" cy="9144"/>
          </a:xfrm>
          <a:prstGeom prst="rect">
            <a:avLst/>
          </a:prstGeom>
          <a:solidFill>
            <a:srgbClr val="CE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6419088"/>
            <a:ext cx="98755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344256"/>
                </a:solidFill>
                <a:latin typeface="Arial"/>
              </a:rPr>
              <a:t>Plan-and-Solve leads prompt-only methods; TIR is strongest when tool use is allowed.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0"/>
            <a:ext cx="45720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47472"/>
            <a:ext cx="53035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1E5B9E"/>
                </a:solidFill>
                <a:latin typeface="Courier New"/>
              </a:rPr>
              <a:t>FACTOR-BASED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347472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1">
                <a:solidFill>
                  <a:srgbClr val="647084"/>
                </a:solidFill>
                <a:latin typeface="Courier New"/>
              </a:rPr>
              <a:t>15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789920" cy="7498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8212F"/>
                </a:solidFill>
                <a:latin typeface="Georgia"/>
              </a:rPr>
              <a:t>Factor diagnostics separate efficient gains from expensive gains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1042416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647084"/>
                </a:solidFill>
                <a:latin typeface="Arial"/>
              </a:rPr>
              <a:t>Methods can improve correctness for very different behavioral reasons; the factor view reveals which one.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39696"/>
            <a:ext cx="3395472" cy="205740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139696"/>
            <a:ext cx="3395472" cy="64008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40864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Self-Consistency buys accuracy with hidden budget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98063"/>
            <a:ext cx="3066288" cy="1289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DeepSeek length factor drops to 0.010; Qwen still falls to 0.515. Five-path voting helps correctness, but the joint score exposes the trajectory cost.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9872" y="2139696"/>
            <a:ext cx="3395472" cy="205740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9872" y="2139696"/>
            <a:ext cx="3395472" cy="64008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4464" y="2340864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Plan-and-Solve improves by cleaner decomposition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4464" y="2798063"/>
            <a:ext cx="3066288" cy="1289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Reflection stays near one on both models (0.983 / 0.979). The gain comes from better early planning rather than extra self-check loops.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9936" y="2139696"/>
            <a:ext cx="3395472" cy="205740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69936" y="2139696"/>
            <a:ext cx="3395472" cy="64008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4528" y="2340864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TIR is strongest when execution errors matter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4528" y="2798063"/>
            <a:ext cx="3066288" cy="1289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It reaches J = 0.714 on DeepSeek and J = 0.668 on Qwen while keeping length factors at 0.726 and 0.972. Tool use improves execution without collapsing into runaway reasoning.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4944" y="5650992"/>
            <a:ext cx="10771632" cy="548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4944" y="5650992"/>
            <a:ext cx="54864" cy="548640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41248" y="5733288"/>
            <a:ext cx="1325880" cy="146304"/>
          </a:xfrm>
          <a:prstGeom prst="roundRect">
            <a:avLst/>
          </a:prstGeom>
          <a:solidFill>
            <a:srgbClr val="EA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765292"/>
            <a:ext cx="1170432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600" b="1">
                <a:solidFill>
                  <a:srgbClr val="2F855A"/>
                </a:solidFill>
                <a:latin typeface="Courier New"/>
              </a:rPr>
              <a:t>FACTOR READ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85248" y="5765292"/>
            <a:ext cx="1097280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600" b="1">
                <a:solidFill>
                  <a:srgbClr val="647084"/>
                </a:solidFill>
                <a:latin typeface="Courier New"/>
              </a:rPr>
              <a:t>DIAGNOSTIC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5925312"/>
            <a:ext cx="10296144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>
                <a:solidFill>
                  <a:srgbClr val="344256"/>
                </a:solidFill>
                <a:latin typeface="Arial"/>
              </a:rPr>
              <a:t>The factor view reveals whether a score gain comes from cleaner decomposition, better execution, or simply paying for more hidden generation budget.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355080"/>
            <a:ext cx="10607040" cy="9144"/>
          </a:xfrm>
          <a:prstGeom prst="rect">
            <a:avLst/>
          </a:prstGeom>
          <a:solidFill>
            <a:srgbClr val="CE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6419088"/>
            <a:ext cx="98755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344256"/>
                </a:solidFill>
                <a:latin typeface="Arial"/>
              </a:rPr>
              <a:t>The factor view explains whether a gain comes from cleaner structure, more budget, or better execution.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0"/>
            <a:ext cx="45720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47472"/>
            <a:ext cx="53035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1E5B9E"/>
                </a:solidFill>
                <a:latin typeface="Courier New"/>
              </a:rPr>
              <a:t>MODEL-LEVEL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347472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1">
                <a:solidFill>
                  <a:srgbClr val="647084"/>
                </a:solidFill>
                <a:latin typeface="Courier New"/>
              </a:rPr>
              <a:t>16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789920" cy="7498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8212F"/>
                </a:solidFill>
                <a:latin typeface="Georgia"/>
              </a:rPr>
              <a:t>Backbone strength changes how much structure can be exploited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1042416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647084"/>
                </a:solidFill>
                <a:latin typeface="Arial"/>
              </a:rPr>
              <a:t>Method gains are real on both models, but the stronger reasoning prior converts them more effectively on hard cases.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39696"/>
            <a:ext cx="3395472" cy="205740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139696"/>
            <a:ext cx="3395472" cy="64008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40864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Both backbones benefit from explicit 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98063"/>
            <a:ext cx="3066288" cy="1289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Plan-and-Solve adds +0.184 joint over CoT zero on DeepSeek and +0.139 on Qwen. The decomposition stage helps even without external tools.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9872" y="2139696"/>
            <a:ext cx="3395472" cy="205740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9872" y="2139696"/>
            <a:ext cx="3395472" cy="6400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4464" y="2340864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A stronger reasoning prior converts tools into bigger hard-split gains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4464" y="2798063"/>
            <a:ext cx="3066288" cy="1289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On AIME 2024, TIR reaches 0.528 on DeepSeek versus 0.317 on Qwen. The hardest split is where backbone quality most clearly limits the return from agentic control.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9936" y="2139696"/>
            <a:ext cx="3395472" cy="205740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69936" y="2139696"/>
            <a:ext cx="3395472" cy="64008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4528" y="2340864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Interpretation: structure helps both, but not for the same reason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4528" y="2798063"/>
            <a:ext cx="3066288" cy="1289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DeepSeek gets the larger absolute gain with TIR (+0.203), while Qwen keeps a tighter efficiency profile (0.972). One model converts extra structure into harder-problem accuracy; the other benefits more from controlled execution.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4944" y="5650992"/>
            <a:ext cx="10771632" cy="548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4944" y="5650992"/>
            <a:ext cx="54864" cy="54864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41248" y="5733288"/>
            <a:ext cx="1325880" cy="146304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765292"/>
            <a:ext cx="1170432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600" b="1">
                <a:solidFill>
                  <a:srgbClr val="1E5B9E"/>
                </a:solidFill>
                <a:latin typeface="Courier New"/>
              </a:rPr>
              <a:t>MODEL LENS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85248" y="5765292"/>
            <a:ext cx="1097280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600" b="1">
                <a:solidFill>
                  <a:srgbClr val="647084"/>
                </a:solidFill>
                <a:latin typeface="Courier New"/>
              </a:rPr>
              <a:t>BACKBONE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5925312"/>
            <a:ext cx="10296144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>
                <a:solidFill>
                  <a:srgbClr val="344256"/>
                </a:solidFill>
                <a:latin typeface="Arial"/>
              </a:rPr>
              <a:t>Method gains depend on model quality as well as prompt design. The stronger backbone converts the same structured scaffold into larger hard-split gains.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355080"/>
            <a:ext cx="10607040" cy="9144"/>
          </a:xfrm>
          <a:prstGeom prst="rect">
            <a:avLst/>
          </a:prstGeom>
          <a:solidFill>
            <a:srgbClr val="CE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6419088"/>
            <a:ext cx="98755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344256"/>
                </a:solidFill>
                <a:latin typeface="Arial"/>
              </a:rPr>
              <a:t>Structure helps both backbones; stronger priors turn it into bigger hard-split gains.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0"/>
            <a:ext cx="45720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47472"/>
            <a:ext cx="53035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1E5B9E"/>
                </a:solidFill>
                <a:latin typeface="Courier New"/>
              </a:rPr>
              <a:t>DATASET-LEVEL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347472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1">
                <a:solidFill>
                  <a:srgbClr val="647084"/>
                </a:solidFill>
                <a:latin typeface="Courier New"/>
              </a:rPr>
              <a:t>17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789920" cy="7498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8212F"/>
                </a:solidFill>
                <a:latin typeface="Georgia"/>
              </a:rPr>
              <a:t>Dataset joint-score matrix shows where the gains really 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1042416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647084"/>
                </a:solidFill>
                <a:latin typeface="Arial"/>
              </a:rPr>
              <a:t>GSM8K reveals decomposition gains early; AIME 2024 checks whether those gains survive on harder symbolic reasoning.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1901952"/>
            <a:ext cx="5010912" cy="3456432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901952"/>
            <a:ext cx="5010912" cy="73152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029968"/>
            <a:ext cx="4718304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8212F"/>
                </a:solidFill>
                <a:latin typeface="Arial"/>
              </a:rPr>
              <a:t>DeepSeek joint score by dataset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859536" y="2340864"/>
          <a:ext cx="4791456" cy="2706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7864"/>
                <a:gridCol w="1197864"/>
                <a:gridCol w="1197864"/>
                <a:gridCol w="1197864"/>
              </a:tblGrid>
              <a:tr h="38666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344256"/>
                          </a:solidFill>
                          <a:latin typeface="Courier New"/>
                        </a:rPr>
                        <a:t>Method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344256"/>
                          </a:solidFill>
                          <a:latin typeface="Courier New"/>
                        </a:rPr>
                        <a:t>MATH-500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344256"/>
                          </a:solidFill>
                          <a:latin typeface="Courier New"/>
                        </a:rPr>
                        <a:t>GSM8K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344256"/>
                          </a:solidFill>
                          <a:latin typeface="Courier New"/>
                        </a:rPr>
                        <a:t>AIME 2024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</a:tr>
              <a:tr h="38666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8212F"/>
                          </a:solidFill>
                          <a:latin typeface="Arial"/>
                        </a:rPr>
                        <a:t>CoT zero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E5B9E"/>
                          </a:solidFill>
                          <a:latin typeface="Courier New"/>
                        </a:rPr>
                        <a:t>0.554</a:t>
                      </a:r>
                    </a:p>
                  </a:txBody>
                  <a:tcPr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0F766E"/>
                          </a:solidFill>
                          <a:latin typeface="Courier New"/>
                        </a:rPr>
                        <a:t>0.631</a:t>
                      </a:r>
                    </a:p>
                  </a:txBody>
                  <a:tcPr>
                    <a:solidFill>
                      <a:srgbClr val="E7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B7791F"/>
                          </a:solidFill>
                          <a:latin typeface="Courier New"/>
                        </a:rPr>
                        <a:t>0.240</a:t>
                      </a:r>
                    </a:p>
                  </a:txBody>
                  <a:tcPr>
                    <a:solidFill>
                      <a:srgbClr val="FFF3D6"/>
                    </a:solidFill>
                  </a:tcPr>
                </a:tc>
              </a:tr>
              <a:tr h="38666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8212F"/>
                          </a:solidFill>
                          <a:latin typeface="Arial"/>
                        </a:rPr>
                        <a:t>CoT few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E5B9E"/>
                          </a:solidFill>
                          <a:latin typeface="Courier New"/>
                        </a:rPr>
                        <a:t>0.563</a:t>
                      </a:r>
                    </a:p>
                  </a:txBody>
                  <a:tcPr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0F766E"/>
                          </a:solidFill>
                          <a:latin typeface="Courier New"/>
                        </a:rPr>
                        <a:t>0.616</a:t>
                      </a:r>
                    </a:p>
                  </a:txBody>
                  <a:tcPr>
                    <a:solidFill>
                      <a:srgbClr val="E7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B7791F"/>
                          </a:solidFill>
                          <a:latin typeface="Courier New"/>
                        </a:rPr>
                        <a:t>0.200</a:t>
                      </a:r>
                    </a:p>
                  </a:txBody>
                  <a:tcPr>
                    <a:solidFill>
                      <a:srgbClr val="FFF3D6"/>
                    </a:solidFill>
                  </a:tcPr>
                </a:tc>
              </a:tr>
              <a:tr h="38666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8212F"/>
                          </a:solidFill>
                          <a:latin typeface="Arial"/>
                        </a:rPr>
                        <a:t>Self-Refine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0F766E"/>
                          </a:solidFill>
                          <a:latin typeface="Courier New"/>
                        </a:rPr>
                        <a:t>0.635</a:t>
                      </a:r>
                    </a:p>
                  </a:txBody>
                  <a:tcPr>
                    <a:solidFill>
                      <a:srgbClr val="E7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0F766E"/>
                          </a:solidFill>
                          <a:latin typeface="Courier New"/>
                        </a:rPr>
                        <a:t>0.705</a:t>
                      </a:r>
                    </a:p>
                  </a:txBody>
                  <a:tcPr>
                    <a:solidFill>
                      <a:srgbClr val="E7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B7791F"/>
                          </a:solidFill>
                          <a:latin typeface="Courier New"/>
                        </a:rPr>
                        <a:t>0.267</a:t>
                      </a:r>
                    </a:p>
                  </a:txBody>
                  <a:tcPr>
                    <a:solidFill>
                      <a:srgbClr val="FFF3D6"/>
                    </a:solidFill>
                  </a:tcPr>
                </a:tc>
              </a:tr>
              <a:tr h="38666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8212F"/>
                          </a:solidFill>
                          <a:latin typeface="Arial"/>
                        </a:rPr>
                        <a:t>Self-Cons.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E5B9E"/>
                          </a:solidFill>
                          <a:latin typeface="Courier New"/>
                        </a:rPr>
                        <a:t>0.553</a:t>
                      </a:r>
                    </a:p>
                  </a:txBody>
                  <a:tcPr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0F766E"/>
                          </a:solidFill>
                          <a:latin typeface="Courier New"/>
                        </a:rPr>
                        <a:t>0.610</a:t>
                      </a:r>
                    </a:p>
                  </a:txBody>
                  <a:tcPr>
                    <a:solidFill>
                      <a:srgbClr val="E7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B7791F"/>
                          </a:solidFill>
                          <a:latin typeface="Courier New"/>
                        </a:rPr>
                        <a:t>0.320</a:t>
                      </a:r>
                    </a:p>
                  </a:txBody>
                  <a:tcPr>
                    <a:solidFill>
                      <a:srgbClr val="FFF3D6"/>
                    </a:solidFill>
                  </a:tcPr>
                </a:tc>
              </a:tr>
              <a:tr h="38666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8212F"/>
                          </a:solidFill>
                          <a:latin typeface="Arial"/>
                        </a:rPr>
                        <a:t>Plan-Solve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0F766E"/>
                          </a:solidFill>
                          <a:latin typeface="Courier New"/>
                        </a:rPr>
                        <a:t>0.728</a:t>
                      </a:r>
                    </a:p>
                  </a:txBody>
                  <a:tcPr>
                    <a:solidFill>
                      <a:srgbClr val="E7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F855A"/>
                          </a:solidFill>
                          <a:latin typeface="Courier New"/>
                        </a:rPr>
                        <a:t>0.818</a:t>
                      </a:r>
                    </a:p>
                  </a:txBody>
                  <a:tcPr>
                    <a:solidFill>
                      <a:srgbClr val="EAF7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E5B9E"/>
                          </a:solidFill>
                          <a:latin typeface="Courier New"/>
                        </a:rPr>
                        <a:t>0.436</a:t>
                      </a:r>
                    </a:p>
                  </a:txBody>
                  <a:tcPr>
                    <a:solidFill>
                      <a:srgbClr val="EAF2FF"/>
                    </a:solidFill>
                  </a:tcPr>
                </a:tc>
              </a:tr>
              <a:tr h="386664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8212F"/>
                          </a:solidFill>
                          <a:latin typeface="Arial"/>
                        </a:rPr>
                        <a:t>TIR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F855A"/>
                          </a:solidFill>
                          <a:latin typeface="Courier New"/>
                        </a:rPr>
                        <a:t>0.767</a:t>
                      </a:r>
                    </a:p>
                  </a:txBody>
                  <a:tcPr>
                    <a:solidFill>
                      <a:srgbClr val="EAF7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F855A"/>
                          </a:solidFill>
                          <a:latin typeface="Courier New"/>
                        </a:rPr>
                        <a:t>0.773</a:t>
                      </a:r>
                    </a:p>
                  </a:txBody>
                  <a:tcPr>
                    <a:solidFill>
                      <a:srgbClr val="EAF7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E5B9E"/>
                          </a:solidFill>
                          <a:latin typeface="Courier New"/>
                        </a:rPr>
                        <a:t>0.528</a:t>
                      </a:r>
                    </a:p>
                  </a:txBody>
                  <a:tcPr>
                    <a:solidFill>
                      <a:srgbClr val="EAF2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513832" y="1901952"/>
            <a:ext cx="5010912" cy="3456432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13832" y="1901952"/>
            <a:ext cx="5010912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0136" y="2029968"/>
            <a:ext cx="4718304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>
                <a:solidFill>
                  <a:srgbClr val="18212F"/>
                </a:solidFill>
                <a:latin typeface="Arial"/>
              </a:rPr>
              <a:t>Qwen joint score by dataset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623560" y="2340864"/>
          <a:ext cx="4791456" cy="2706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7864"/>
                <a:gridCol w="1197864"/>
                <a:gridCol w="1197864"/>
                <a:gridCol w="1197864"/>
              </a:tblGrid>
              <a:tr h="38666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344256"/>
                          </a:solidFill>
                          <a:latin typeface="Courier New"/>
                        </a:rPr>
                        <a:t>Method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344256"/>
                          </a:solidFill>
                          <a:latin typeface="Courier New"/>
                        </a:rPr>
                        <a:t>MATH-500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344256"/>
                          </a:solidFill>
                          <a:latin typeface="Courier New"/>
                        </a:rPr>
                        <a:t>GSM8K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344256"/>
                          </a:solidFill>
                          <a:latin typeface="Courier New"/>
                        </a:rPr>
                        <a:t>AIME 2024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</a:tr>
              <a:tr h="38666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8212F"/>
                          </a:solidFill>
                          <a:latin typeface="Arial"/>
                        </a:rPr>
                        <a:t>CoT zero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E5B9E"/>
                          </a:solidFill>
                          <a:latin typeface="Courier New"/>
                        </a:rPr>
                        <a:t>0.533</a:t>
                      </a:r>
                    </a:p>
                  </a:txBody>
                  <a:tcPr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F855A"/>
                          </a:solidFill>
                          <a:latin typeface="Courier New"/>
                        </a:rPr>
                        <a:t>0.754</a:t>
                      </a:r>
                    </a:p>
                  </a:txBody>
                  <a:tcPr>
                    <a:solidFill>
                      <a:srgbClr val="EAF7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B42318"/>
                          </a:solidFill>
                          <a:latin typeface="Courier New"/>
                        </a:rPr>
                        <a:t>0.099</a:t>
                      </a:r>
                    </a:p>
                  </a:txBody>
                  <a:tcPr>
                    <a:solidFill>
                      <a:srgbClr val="FEECEB"/>
                    </a:solidFill>
                  </a:tcPr>
                </a:tc>
              </a:tr>
              <a:tr h="38666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8212F"/>
                          </a:solidFill>
                          <a:latin typeface="Arial"/>
                        </a:rPr>
                        <a:t>CoT few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E5B9E"/>
                          </a:solidFill>
                          <a:latin typeface="Courier New"/>
                        </a:rPr>
                        <a:t>0.529</a:t>
                      </a:r>
                    </a:p>
                  </a:txBody>
                  <a:tcPr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0F766E"/>
                          </a:solidFill>
                          <a:latin typeface="Courier New"/>
                        </a:rPr>
                        <a:t>0.668</a:t>
                      </a:r>
                    </a:p>
                  </a:txBody>
                  <a:tcPr>
                    <a:solidFill>
                      <a:srgbClr val="E7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B42318"/>
                          </a:solidFill>
                          <a:latin typeface="Courier New"/>
                        </a:rPr>
                        <a:t>0.000</a:t>
                      </a:r>
                    </a:p>
                  </a:txBody>
                  <a:tcPr>
                    <a:solidFill>
                      <a:srgbClr val="FEECEB"/>
                    </a:solidFill>
                  </a:tcPr>
                </a:tc>
              </a:tr>
              <a:tr h="38666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8212F"/>
                          </a:solidFill>
                          <a:latin typeface="Arial"/>
                        </a:rPr>
                        <a:t>Self-Refine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E5B9E"/>
                          </a:solidFill>
                          <a:latin typeface="Courier New"/>
                        </a:rPr>
                        <a:t>0.499</a:t>
                      </a:r>
                    </a:p>
                  </a:txBody>
                  <a:tcPr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0F766E"/>
                          </a:solidFill>
                          <a:latin typeface="Courier New"/>
                        </a:rPr>
                        <a:t>0.712</a:t>
                      </a:r>
                    </a:p>
                  </a:txBody>
                  <a:tcPr>
                    <a:solidFill>
                      <a:srgbClr val="E7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B42318"/>
                          </a:solidFill>
                          <a:latin typeface="Courier New"/>
                        </a:rPr>
                        <a:t>0.030</a:t>
                      </a:r>
                    </a:p>
                  </a:txBody>
                  <a:tcPr>
                    <a:solidFill>
                      <a:srgbClr val="FEECEB"/>
                    </a:solidFill>
                  </a:tcPr>
                </a:tc>
              </a:tr>
              <a:tr h="38666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8212F"/>
                          </a:solidFill>
                          <a:latin typeface="Arial"/>
                        </a:rPr>
                        <a:t>Self-Cons.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E5B9E"/>
                          </a:solidFill>
                          <a:latin typeface="Courier New"/>
                        </a:rPr>
                        <a:t>0.475</a:t>
                      </a:r>
                    </a:p>
                  </a:txBody>
                  <a:tcPr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0F766E"/>
                          </a:solidFill>
                          <a:latin typeface="Courier New"/>
                        </a:rPr>
                        <a:t>0.742</a:t>
                      </a:r>
                    </a:p>
                  </a:txBody>
                  <a:tcPr>
                    <a:solidFill>
                      <a:srgbClr val="E7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B42318"/>
                          </a:solidFill>
                          <a:latin typeface="Courier New"/>
                        </a:rPr>
                        <a:t>0.047</a:t>
                      </a:r>
                    </a:p>
                  </a:txBody>
                  <a:tcPr>
                    <a:solidFill>
                      <a:srgbClr val="FEECEB"/>
                    </a:solidFill>
                  </a:tcPr>
                </a:tc>
              </a:tr>
              <a:tr h="38666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8212F"/>
                          </a:solidFill>
                          <a:latin typeface="Arial"/>
                        </a:rPr>
                        <a:t>Plan-Solve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0F766E"/>
                          </a:solidFill>
                          <a:latin typeface="Courier New"/>
                        </a:rPr>
                        <a:t>0.723</a:t>
                      </a:r>
                    </a:p>
                  </a:txBody>
                  <a:tcPr>
                    <a:solidFill>
                      <a:srgbClr val="E7F6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F855A"/>
                          </a:solidFill>
                          <a:latin typeface="Courier New"/>
                        </a:rPr>
                        <a:t>0.809</a:t>
                      </a:r>
                    </a:p>
                  </a:txBody>
                  <a:tcPr>
                    <a:solidFill>
                      <a:srgbClr val="EAF7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B7791F"/>
                          </a:solidFill>
                          <a:latin typeface="Courier New"/>
                        </a:rPr>
                        <a:t>0.294</a:t>
                      </a:r>
                    </a:p>
                  </a:txBody>
                  <a:tcPr>
                    <a:solidFill>
                      <a:srgbClr val="FFF3D6"/>
                    </a:solidFill>
                  </a:tcPr>
                </a:tc>
              </a:tr>
              <a:tr h="386664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18212F"/>
                          </a:solidFill>
                          <a:latin typeface="Arial"/>
                        </a:rPr>
                        <a:t>TIR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F855A"/>
                          </a:solidFill>
                          <a:latin typeface="Courier New"/>
                        </a:rPr>
                        <a:t>0.755</a:t>
                      </a:r>
                    </a:p>
                  </a:txBody>
                  <a:tcPr>
                    <a:solidFill>
                      <a:srgbClr val="EAF7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F855A"/>
                          </a:solidFill>
                          <a:latin typeface="Courier New"/>
                        </a:rPr>
                        <a:t>0.792</a:t>
                      </a:r>
                    </a:p>
                  </a:txBody>
                  <a:tcPr>
                    <a:solidFill>
                      <a:srgbClr val="EAF7E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B7791F"/>
                          </a:solidFill>
                          <a:latin typeface="Courier New"/>
                        </a:rPr>
                        <a:t>0.317</a:t>
                      </a:r>
                    </a:p>
                  </a:txBody>
                  <a:tcPr>
                    <a:solidFill>
                      <a:srgbClr val="FFF3D6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94944" y="5650992"/>
            <a:ext cx="10771632" cy="548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4944" y="5650992"/>
            <a:ext cx="54864" cy="54864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41248" y="5733288"/>
            <a:ext cx="1325880" cy="146304"/>
          </a:xfrm>
          <a:prstGeom prst="roundRect">
            <a:avLst/>
          </a:prstGeom>
          <a:solidFill>
            <a:srgbClr val="E7F6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5765292"/>
            <a:ext cx="1170432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600" b="1">
                <a:solidFill>
                  <a:srgbClr val="0F766E"/>
                </a:solidFill>
                <a:latin typeface="Courier New"/>
              </a:rPr>
              <a:t>DATASET LENS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85248" y="5765292"/>
            <a:ext cx="1097280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600" b="1">
                <a:solidFill>
                  <a:srgbClr val="647084"/>
                </a:solidFill>
                <a:latin typeface="Courier New"/>
              </a:rPr>
              <a:t>JOINT SCORE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925312"/>
            <a:ext cx="10296144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>
                <a:solidFill>
                  <a:srgbClr val="344256"/>
                </a:solidFill>
                <a:latin typeface="Arial"/>
              </a:rPr>
              <a:t>GSM8K reveals early decomposition gains, MATH-500 broadens coverage, and AIME tests whether the gain survives under harder symbolic reasoning.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6355080"/>
            <a:ext cx="10607040" cy="9144"/>
          </a:xfrm>
          <a:prstGeom prst="rect">
            <a:avLst/>
          </a:prstGeom>
          <a:solidFill>
            <a:srgbClr val="CE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6656" y="6419088"/>
            <a:ext cx="98755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344256"/>
                </a:solidFill>
                <a:latin typeface="Arial"/>
              </a:rPr>
              <a:t>GSM8K responds fastest to structure; AIME remains the transfer stress test for both backbones.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0"/>
            <a:ext cx="45720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47472"/>
            <a:ext cx="53035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1E5B9E"/>
                </a:solidFill>
                <a:latin typeface="Courier New"/>
              </a:rPr>
              <a:t>LITERATURE CONNECTIONS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347472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1">
                <a:solidFill>
                  <a:srgbClr val="647084"/>
                </a:solidFill>
                <a:latin typeface="Courier New"/>
              </a:rPr>
              <a:t>18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789920" cy="7498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8212F"/>
                </a:solidFill>
                <a:latin typeface="Georgia"/>
              </a:rPr>
              <a:t>The design borrows ideas from prompting, tool use, and reasoning efficiency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1042416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647084"/>
                </a:solidFill>
                <a:latin typeface="Arial"/>
              </a:rPr>
              <a:t>The references are used as design motivation, not as claims of full system equivalence.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86384" y="1993392"/>
          <a:ext cx="10442448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80816"/>
                <a:gridCol w="3480816"/>
                <a:gridCol w="3480816"/>
              </a:tblGrid>
              <a:tr h="74066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5B9E"/>
                          </a:solidFill>
                          <a:latin typeface="Arial"/>
                        </a:rPr>
                        <a:t>Thread</a:t>
                      </a:r>
                    </a:p>
                  </a:txBody>
                  <a:tcPr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5B9E"/>
                          </a:solidFill>
                          <a:latin typeface="Arial"/>
                        </a:rPr>
                        <a:t>References</a:t>
                      </a:r>
                    </a:p>
                  </a:txBody>
                  <a:tcPr>
                    <a:solidFill>
                      <a:srgbClr val="EAF2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E5B9E"/>
                          </a:solidFill>
                          <a:latin typeface="Arial"/>
                        </a:rPr>
                        <a:t>How it informs this project</a:t>
                      </a:r>
                    </a:p>
                  </a:txBody>
                  <a:tcPr>
                    <a:solidFill>
                      <a:srgbClr val="EAF2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8212F"/>
                          </a:solidFill>
                          <a:latin typeface="Arial"/>
                        </a:rPr>
                        <a:t>Prompting lineage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47084"/>
                          </a:solidFill>
                          <a:latin typeface="Arial"/>
                        </a:rPr>
                        <a:t>Wei et al. 2022; Wang et al. 2022, 2023; Madaan et al. 2024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47084"/>
                          </a:solidFill>
                          <a:latin typeface="Arial"/>
                        </a:rPr>
                        <a:t>Reasoning elicitation, multi-path voting, critique, and explicit planning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8212F"/>
                          </a:solidFill>
                          <a:latin typeface="Arial"/>
                        </a:rPr>
                        <a:t>Tool-grounded solving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47084"/>
                          </a:solidFill>
                          <a:latin typeface="Arial"/>
                        </a:rPr>
                        <a:t>Gou et al. 2023 (ToRA)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47084"/>
                          </a:solidFill>
                          <a:latin typeface="Arial"/>
                        </a:rPr>
                        <a:t>Reasoning can call reliable computation, observe it, and continue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40664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18212F"/>
                          </a:solidFill>
                          <a:latin typeface="Arial"/>
                        </a:rPr>
                        <a:t>Efficiency-aware diagnosis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47084"/>
                          </a:solidFill>
                          <a:latin typeface="Arial"/>
                        </a:rPr>
                        <a:t>Wang et al. 2025; Yang et al. 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647084"/>
                          </a:solidFill>
                          <a:latin typeface="Arial"/>
                        </a:rPr>
                        <a:t>Reflection-token cost, overlong reasoning, and answer-aware stopping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94944" y="5650992"/>
            <a:ext cx="10771632" cy="548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4944" y="5650992"/>
            <a:ext cx="54864" cy="54864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8" y="5733288"/>
            <a:ext cx="1325880" cy="146304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5765292"/>
            <a:ext cx="1170432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600" b="1">
                <a:solidFill>
                  <a:srgbClr val="1E5B9E"/>
                </a:solidFill>
                <a:latin typeface="Courier New"/>
              </a:rPr>
              <a:t>REFERENCE LINK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85248" y="5765292"/>
            <a:ext cx="1097280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600" b="1">
                <a:solidFill>
                  <a:srgbClr val="647084"/>
                </a:solidFill>
                <a:latin typeface="Courier New"/>
              </a:rPr>
              <a:t>RELATED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5925312"/>
            <a:ext cx="10296144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>
                <a:solidFill>
                  <a:srgbClr val="344256"/>
                </a:solidFill>
                <a:latin typeface="Arial"/>
              </a:rPr>
              <a:t>The related work motivates the design choices: CoT-style reasoning paths, ToRA-style tool integration, and recent efficiency work on reflection and overlong reasoning.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55080"/>
            <a:ext cx="10607040" cy="9144"/>
          </a:xfrm>
          <a:prstGeom prst="rect">
            <a:avLst/>
          </a:prstGeom>
          <a:solidFill>
            <a:srgbClr val="CE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6419088"/>
            <a:ext cx="98755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344256"/>
                </a:solidFill>
                <a:latin typeface="Arial"/>
              </a:rPr>
              <a:t>The project adapts these ideas into a lightweight prompt-level experimental pipeline.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0"/>
            <a:ext cx="45720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47472"/>
            <a:ext cx="53035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1E5B9E"/>
                </a:solidFill>
                <a:latin typeface="Courier New"/>
              </a:rPr>
              <a:t>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347472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1">
                <a:solidFill>
                  <a:srgbClr val="647084"/>
                </a:solidFill>
                <a:latin typeface="Courier New"/>
              </a:rPr>
              <a:t>19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789920" cy="7498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8212F"/>
                </a:solidFill>
                <a:latin typeface="Georgia"/>
              </a:rPr>
              <a:t>From static prompts to adaptive solver agents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1042416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647084"/>
                </a:solidFill>
                <a:latin typeface="Arial"/>
              </a:rPr>
              <a:t>The next step is not “always think longer”, but “decide which reasoning mode is worth paying for”.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11680"/>
            <a:ext cx="2505456" cy="2834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011680"/>
            <a:ext cx="2505456" cy="73152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04288"/>
            <a:ext cx="2176272" cy="5120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1E5B9E"/>
                </a:solidFill>
                <a:latin typeface="Georgia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99232"/>
            <a:ext cx="217627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212F"/>
                </a:solidFill>
                <a:latin typeface="Arial"/>
              </a:rPr>
              <a:t>Harness prompt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11296"/>
            <a:ext cx="2176272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084"/>
                </a:solidFill>
                <a:latin typeface="Arial"/>
              </a:rPr>
              <a:t>Standardize classify-plan-solve-verify slots so later agents read and act on the same reasoning scaffold.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9856" y="2011680"/>
            <a:ext cx="2505456" cy="2834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19856" y="2011680"/>
            <a:ext cx="2505456" cy="73152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84448" y="2304288"/>
            <a:ext cx="2176272" cy="5120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0F766E"/>
                </a:solidFill>
                <a:latin typeface="Georgia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84448" y="2999232"/>
            <a:ext cx="217627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212F"/>
                </a:solidFill>
                <a:latin typeface="Arial"/>
              </a:rPr>
              <a:t>Problem router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84448" y="3511296"/>
            <a:ext cx="2176272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084"/>
                </a:solidFill>
                <a:latin typeface="Arial"/>
              </a:rPr>
              <a:t>Choose CoT, Plan-and-Solve, or TIR according to arithmetic load, symbolic depth, and uncertainty.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89904" y="2011680"/>
            <a:ext cx="2505456" cy="2834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89904" y="2011680"/>
            <a:ext cx="2505456" cy="73152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4496" y="2304288"/>
            <a:ext cx="2176272" cy="5120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B7791F"/>
                </a:solidFill>
                <a:latin typeface="Georgia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4496" y="2999232"/>
            <a:ext cx="217627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212F"/>
                </a:solidFill>
                <a:latin typeface="Arial"/>
              </a:rPr>
              <a:t>ReAct math loop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4496" y="3511296"/>
            <a:ext cx="2176272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084"/>
                </a:solidFill>
                <a:latin typeface="Arial"/>
              </a:rPr>
              <a:t>Let the solver reason, call Python, observe, and revise only when execution evidence is actually needed.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59952" y="2011680"/>
            <a:ext cx="2505456" cy="2834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59952" y="2011680"/>
            <a:ext cx="2505456" cy="73152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24544" y="2304288"/>
            <a:ext cx="2176272" cy="51206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600" b="1">
                <a:solidFill>
                  <a:srgbClr val="2F855A"/>
                </a:solidFill>
                <a:latin typeface="Georgia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24544" y="2999232"/>
            <a:ext cx="2176272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>
                <a:solidFill>
                  <a:srgbClr val="18212F"/>
                </a:solidFill>
                <a:latin typeface="Arial"/>
              </a:rPr>
              <a:t>Verifier + stop rule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24544" y="3511296"/>
            <a:ext cx="2176272" cy="93268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>
                <a:solidFill>
                  <a:srgbClr val="647084"/>
                </a:solidFill>
                <a:latin typeface="Arial"/>
              </a:rPr>
              <a:t>Check final-answer stability, repeated cues, and contradiction; then stop early or request one targeted repair.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" y="5650992"/>
            <a:ext cx="10771632" cy="548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4944" y="5650992"/>
            <a:ext cx="54864" cy="548640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41248" y="5733288"/>
            <a:ext cx="1325880" cy="146304"/>
          </a:xfrm>
          <a:prstGeom prst="roundRect">
            <a:avLst/>
          </a:prstGeom>
          <a:solidFill>
            <a:srgbClr val="FFF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765292"/>
            <a:ext cx="1170432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600" b="1">
                <a:solidFill>
                  <a:srgbClr val="B7791F"/>
                </a:solidFill>
                <a:latin typeface="Courier New"/>
              </a:rPr>
              <a:t>NEXT MOVE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85248" y="5765292"/>
            <a:ext cx="1097280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600" b="1">
                <a:solidFill>
                  <a:srgbClr val="647084"/>
                </a:solidFill>
                <a:latin typeface="Courier New"/>
              </a:rPr>
              <a:t>FUTURE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5925312"/>
            <a:ext cx="10296144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>
                <a:solidFill>
                  <a:srgbClr val="344256"/>
                </a:solidFill>
                <a:latin typeface="Arial"/>
              </a:rPr>
              <a:t>A concrete next step is an adaptive solver that routes problems to the cheapest sufficient reasoning mode, verifies answer stability, and stops once the solution is reliable.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6355080"/>
            <a:ext cx="10607040" cy="9144"/>
          </a:xfrm>
          <a:prstGeom prst="rect">
            <a:avLst/>
          </a:prstGeom>
          <a:solidFill>
            <a:srgbClr val="CE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6656" y="6419088"/>
            <a:ext cx="98755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344256"/>
                </a:solidFill>
                <a:latin typeface="Arial"/>
              </a:rPr>
              <a:t>A practical next experiment is a routed solver: classify the problem, choose the reasoning mode, verify, then stop early when stable.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872" y="0"/>
            <a:ext cx="45720" cy="685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347472"/>
            <a:ext cx="530352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1E5B9E"/>
                </a:solidFill>
                <a:latin typeface="Courier New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98480" y="347472"/>
            <a:ext cx="822960" cy="20116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800" b="1">
                <a:solidFill>
                  <a:srgbClr val="647084"/>
                </a:solidFill>
                <a:latin typeface="Courier New"/>
              </a:rPr>
              <a:t>20 / 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658368"/>
            <a:ext cx="10789920" cy="7498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500" b="1">
                <a:solidFill>
                  <a:srgbClr val="18212F"/>
                </a:solidFill>
                <a:latin typeface="Georgia"/>
              </a:rPr>
              <a:t>Prompt design and metric design must be discussed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389888"/>
            <a:ext cx="10424160" cy="3474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>
                <a:solidFill>
                  <a:srgbClr val="647084"/>
                </a:solidFill>
                <a:latin typeface="Arial"/>
              </a:rPr>
              <a:t>Once reasoning becomes multi-stage or tool-augmented, evaluation must describe the behavior it rewards.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39696"/>
            <a:ext cx="3395472" cy="205740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139696"/>
            <a:ext cx="3395472" cy="64008"/>
          </a:xfrm>
          <a:prstGeom prst="rect">
            <a:avLst/>
          </a:prstGeom>
          <a:solidFill>
            <a:srgbClr val="1E5B9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340864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98063"/>
            <a:ext cx="3066288" cy="1289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Plan-and-Solve is the cleanest main contribution because it improves joint score without leaving the prompt-only setting.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09872" y="2139696"/>
            <a:ext cx="3395472" cy="205740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9872" y="2139696"/>
            <a:ext cx="3395472" cy="6400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4464" y="2340864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4464" y="2798063"/>
            <a:ext cx="3066288" cy="1289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TIR is best read as an agentic extension: reason, act, observe, and continue with a narrow mathematical tool boundary.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9936" y="2139696"/>
            <a:ext cx="3395472" cy="205740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69936" y="2139696"/>
            <a:ext cx="3395472" cy="64008"/>
          </a:xfrm>
          <a:prstGeom prst="rect">
            <a:avLst/>
          </a:prstGeom>
          <a:solidFill>
            <a:srgbClr val="B779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34528" y="2340864"/>
            <a:ext cx="3066288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18212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34528" y="2798063"/>
            <a:ext cx="3066288" cy="1289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47084"/>
                </a:solidFill>
                <a:latin typeface="Arial"/>
              </a:rPr>
              <a:t>The joint score keeps correctness dominant while exposing hidden budget, unstable answer cues, and excessive reflection.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4944" y="5650992"/>
            <a:ext cx="10771632" cy="548640"/>
          </a:xfrm>
          <a:prstGeom prst="rect">
            <a:avLst/>
          </a:prstGeom>
          <a:solidFill>
            <a:srgbClr val="FFFFFF"/>
          </a:solidFill>
          <a:ln>
            <a:solidFill>
              <a:srgbClr val="CED6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94944" y="5650992"/>
            <a:ext cx="54864" cy="548640"/>
          </a:xfrm>
          <a:prstGeom prst="rect">
            <a:avLst/>
          </a:prstGeom>
          <a:solidFill>
            <a:srgbClr val="2F85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41248" y="5733288"/>
            <a:ext cx="1325880" cy="146304"/>
          </a:xfrm>
          <a:prstGeom prst="roundRect">
            <a:avLst/>
          </a:prstGeom>
          <a:solidFill>
            <a:srgbClr val="EA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765292"/>
            <a:ext cx="1170432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600" b="1">
                <a:solidFill>
                  <a:srgbClr val="2F855A"/>
                </a:solidFill>
                <a:latin typeface="Courier New"/>
              </a:rPr>
              <a:t>FINAL TAKEAWAY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85248" y="5765292"/>
            <a:ext cx="1097280" cy="7315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600" b="1">
                <a:solidFill>
                  <a:srgbClr val="647084"/>
                </a:solidFill>
                <a:latin typeface="Courier New"/>
              </a:rPr>
              <a:t>Q&amp;A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5925312"/>
            <a:ext cx="10296144" cy="14630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700" b="0">
                <a:solidFill>
                  <a:srgbClr val="344256"/>
                </a:solidFill>
                <a:latin typeface="Arial"/>
              </a:rPr>
              <a:t>The final message is methodological: once methods use planning, sampling, refinement, or tools, evaluation must specify what behavior it rewards and what cost it counts.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355080"/>
            <a:ext cx="10607040" cy="9144"/>
          </a:xfrm>
          <a:prstGeom prst="rect">
            <a:avLst/>
          </a:prstGeom>
          <a:solidFill>
            <a:srgbClr val="CED6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6656" y="6419088"/>
            <a:ext cx="98755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1">
                <a:solidFill>
                  <a:srgbClr val="344256"/>
                </a:solidFill>
                <a:latin typeface="Arial"/>
              </a:rPr>
              <a:t>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