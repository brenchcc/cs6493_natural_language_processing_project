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CS6493 NLP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VOL.02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SMALL OPEN-WEIGHT LLMS FOR MATH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 i="0">
                <a:solidFill>
                  <a:srgbClr val="E4E8EC"/>
                </a:solidFill>
                <a:latin typeface="Courier New"/>
              </a:defRPr>
            </a:pPr>
            <a:r>
              <a:t>BEHAVIOR-AWARE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7863840" cy="2194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5200" b="1" i="0">
                <a:solidFill>
                  <a:srgbClr val="F1F3F5"/>
                </a:solidFill>
                <a:latin typeface="Georgia"/>
              </a:defRPr>
            </a:pPr>
            <a:r>
              <a:t>Prompting Small</a:t>
            </a:r>
            <a:br/>
            <a:r>
              <a:t>Math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703320"/>
            <a:ext cx="6400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0" i="1">
                <a:solidFill>
                  <a:srgbClr val="E4E8EC"/>
                </a:solidFill>
                <a:latin typeface="Georgia"/>
              </a:defRPr>
            </a:pPr>
            <a:r>
              <a:t>Prompting accuracy and response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370832"/>
            <a:ext cx="6858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 i="0">
                <a:solidFill>
                  <a:srgbClr val="F1F3F5"/>
                </a:solidFill>
                <a:latin typeface="Arial"/>
              </a:defRPr>
            </a:pPr>
            <a:r>
              <a:t>A classroom report on experiment design, prompt mechanisms, joint scoring, and agentic extensions.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4069080"/>
            <a:ext cx="2880360" cy="1353312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13064" y="4233672"/>
            <a:ext cx="258775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4416552"/>
            <a:ext cx="25511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Deck 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4892040"/>
            <a:ext cx="2551176" cy="42062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English report deck, independent from the old PPT, with editable text and shapes.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ACT I ·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02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CORRECTNESS-GATED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6B7280"/>
                </a:solidFill>
                <a:latin typeface="Courier New"/>
              </a:defRPr>
            </a:pPr>
            <a:r>
              <a:t>THE CORE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789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0A1F3D"/>
                </a:solidFill>
                <a:latin typeface="Georgia"/>
              </a:defRPr>
            </a:pPr>
            <a:r>
              <a:t>Not just whether the answer is right.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8416137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1">
                <a:solidFill>
                  <a:srgbClr val="6B7280"/>
                </a:solidFill>
                <a:latin typeface="Georgia"/>
              </a:defRPr>
            </a:pPr>
            <a:r>
              <a:t>The report reframes accuracy and response length as a designed joint score.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886200"/>
            <a:ext cx="33375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" y="4050791"/>
            <a:ext cx="304495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3008376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Incorrect answers receive zero, so a short wrong answer is never rewarded.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4" y="3886200"/>
            <a:ext cx="33375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0288" y="4050791"/>
            <a:ext cx="3044952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4233672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Modifier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4709160"/>
            <a:ext cx="3008376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Correct answers keep most credit, then behavior separates concise and unstable trajectories.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886200"/>
            <a:ext cx="333756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4464" y="4050791"/>
            <a:ext cx="3044952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4233672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Diagnosis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709160"/>
            <a:ext cx="3008376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Length, answer stability, and reflection factors explain why rankings move.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EXPERIMENT ·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03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EXPERIMENT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130 QUESTIONS PER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E4E8EC"/>
                </a:solidFill>
                <a:latin typeface="Courier New"/>
              </a:defRPr>
            </a:pPr>
            <a:r>
              <a:t>DESIGN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789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F1F3F5"/>
                </a:solidFill>
                <a:latin typeface="Georgia"/>
              </a:defRPr>
            </a:pPr>
            <a:r>
              <a:t>Two models, three datasets,</a:t>
            </a:r>
            <a:br/>
            <a:r>
              <a:t>six reasoning methods.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703320"/>
            <a:ext cx="3337560" cy="141732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3867911"/>
            <a:ext cx="304495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3008376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Qwen2.5-Math-1.5B-Instruct</a:t>
            </a:r>
            <a:br/>
            <a:r>
              <a:t>DeepSeek-R1-Distill-Qwen-1.5B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3703320"/>
            <a:ext cx="3337560" cy="141732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3867911"/>
            <a:ext cx="3044952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050791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4526280"/>
            <a:ext cx="3008376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MATH-500 and GSM8K: 50 fixed samples each</a:t>
            </a:r>
            <a:br/>
            <a:r>
              <a:t>AIME 2024: 30 fixed samples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703320"/>
            <a:ext cx="3337560" cy="141732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3867911"/>
            <a:ext cx="3044952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050791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526280"/>
            <a:ext cx="3008376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CoT, Self-Refine, Self-Consistency,</a:t>
            </a:r>
            <a:br/>
            <a:r>
              <a:t>Plan-and-Solve, and TIR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PROMPT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METHOD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CONTEXT -&gt; TRAJECTORY -&gt;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6B7280"/>
                </a:solidFill>
                <a:latin typeface="Courier New"/>
              </a:defRPr>
            </a:pPr>
            <a:r>
              <a:t>THE METHODS ARE NOT THE SAME KIND OF INTERVENTION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789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0A1F3D"/>
                </a:solidFill>
                <a:latin typeface="Georgia"/>
              </a:defRPr>
            </a:pPr>
            <a:r>
              <a:t>Prompting changes context,</a:t>
            </a:r>
            <a:br/>
            <a:r>
              <a:t>trajectory, or system boundary.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657600"/>
            <a:ext cx="3337560" cy="1536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3822191"/>
            <a:ext cx="304495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008376" cy="6035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CoT zero-shot and CoT few-shot guide the local reasoning style but keep a single interaction.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3657600"/>
            <a:ext cx="3337560" cy="1536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3822191"/>
            <a:ext cx="3044952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005072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Trajectory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4480560"/>
            <a:ext cx="3008376" cy="6035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Self-Refine, Self-Consistency, and Plan-and-Solve alter the internal path through critique, voting, or decomposition.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57600"/>
            <a:ext cx="3337560" cy="1536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3822191"/>
            <a:ext cx="3044952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005072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System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480560"/>
            <a:ext cx="3008376" cy="6035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TIR crosses the boundary by allowing executable Python and observations.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ACT II · PROMPT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05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PLAN-AND-SOLVE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PROMPT-ONLY AND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097280"/>
            <a:ext cx="4663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 i="0">
                <a:solidFill>
                  <a:srgbClr val="6B7280"/>
                </a:solidFill>
                <a:latin typeface="Courier New"/>
              </a:defRPr>
            </a:pPr>
            <a:r>
              <a:t>PROPOSED PROMPT-ONLY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7132320" cy="19933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5400" b="1" i="0">
                <a:solidFill>
                  <a:srgbClr val="0A1F3D"/>
                </a:solidFill>
                <a:latin typeface="Georgia"/>
              </a:defRPr>
            </a:pPr>
            <a:r>
              <a:t>Plan first.</a:t>
            </a:r>
            <a:br/>
            <a:r>
              <a:t>Solve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886200"/>
            <a:ext cx="6629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 i="1">
                <a:solidFill>
                  <a:srgbClr val="334155"/>
                </a:solidFill>
                <a:latin typeface="Georgia"/>
              </a:defRPr>
            </a:pPr>
            <a:r>
              <a:t>Plan-and-Solve attacks missing-step errors before they happen, without multiplying samples or adding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3822191"/>
            <a:ext cx="324612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3986783"/>
            <a:ext cx="2953512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169663"/>
            <a:ext cx="29169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Why this is the main extension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645152"/>
            <a:ext cx="291693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It is fair against other prompt-only methods, easy to explain pedagogically, and transparent in extra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PLAN-AND-SOLVE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06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PROMPT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PLAN -&gt; SOLVE -&gt; PARSE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E4E8EC"/>
                </a:solidFill>
                <a:latin typeface="Courier New"/>
              </a:defRPr>
            </a:pPr>
            <a:r>
              <a:t>TWO-TURN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789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F1F3F5"/>
                </a:solidFill>
                <a:latin typeface="Georgia"/>
              </a:defRPr>
            </a:pPr>
            <a:r>
              <a:t>The innovation is a small contract,</a:t>
            </a:r>
            <a:br/>
            <a:r>
              <a:t>not a bigger prompt.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749039"/>
            <a:ext cx="2331720" cy="141732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3913631"/>
            <a:ext cx="203911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096511"/>
            <a:ext cx="20025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01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572000"/>
            <a:ext cx="2002536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Ask for at most three short numbered steps.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3749039"/>
            <a:ext cx="2331720" cy="141732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6744" y="3913631"/>
            <a:ext cx="2039112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4096511"/>
            <a:ext cx="20025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02 Suppress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4572000"/>
            <a:ext cx="2002536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The planning turn cannot solve or reveal the final answer.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3749039"/>
            <a:ext cx="2331720" cy="141732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3952" y="3913631"/>
            <a:ext cx="2039112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96511"/>
            <a:ext cx="20025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03 Solve under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2002536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The second turn follows the plan and keeps reasoning concise.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34856" y="3749039"/>
            <a:ext cx="2331720" cy="141732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3913631"/>
            <a:ext cx="203911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4096511"/>
            <a:ext cx="20025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04 Final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4572000"/>
            <a:ext cx="2002536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End exactly as Final Answer: boxed{...} for parsing.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TIR · AGENTIC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07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AGENTIC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TIR IS NOT PROMPT-ONLY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6B7280"/>
                </a:solidFill>
                <a:latin typeface="Courier New"/>
              </a:defRPr>
            </a:pPr>
            <a:r>
              <a:t>TOOL-INTEGRATED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789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0A1F3D"/>
                </a:solidFill>
                <a:latin typeface="Georgia"/>
              </a:defRPr>
            </a:pPr>
            <a:r>
              <a:t>TIR turns prompting into</a:t>
            </a:r>
            <a:br/>
            <a:r>
              <a:t>a small agent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730752"/>
            <a:ext cx="1874519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3895344"/>
            <a:ext cx="1581911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078224"/>
            <a:ext cx="15453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553712"/>
            <a:ext cx="15453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Decide if computation is 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4224528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Courier New"/>
              </a:defRPr>
            </a:pPr>
            <a: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3730752"/>
            <a:ext cx="1874519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0672" y="3895344"/>
            <a:ext cx="1581911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078224"/>
            <a:ext cx="15453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Emit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53712"/>
            <a:ext cx="15453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Stop after fenced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4224528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Courier New"/>
              </a:defRPr>
            </a:pPr>
            <a: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0368" y="3730752"/>
            <a:ext cx="1874519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76672" y="3895344"/>
            <a:ext cx="1581911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4078224"/>
            <a:ext cx="15453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4553712"/>
            <a:ext cx="15453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Run in cs_hw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4224528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Courier New"/>
              </a:defRPr>
            </a:pPr>
            <a: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16368" y="3730752"/>
            <a:ext cx="1874519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62672" y="3895344"/>
            <a:ext cx="1581911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078224"/>
            <a:ext cx="15453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553712"/>
            <a:ext cx="15453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Return output block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4224528"/>
            <a:ext cx="274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Courier New"/>
              </a:defRPr>
            </a:pPr>
            <a:r>
              <a:t>-&gt;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02368" y="3730752"/>
            <a:ext cx="1874519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48672" y="3895344"/>
            <a:ext cx="1581911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4078224"/>
            <a:ext cx="154533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Continue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4553712"/>
            <a:ext cx="15453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Finish with answer contract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EVALUATION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08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METRIC 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FINAL RESPONSE != TOTAL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E4E8EC"/>
                </a:solidFill>
                <a:latin typeface="Courier New"/>
              </a:defRPr>
            </a:pPr>
            <a:r>
              <a:t>WHY FINAL ANSWER LENGTH IS INSUFFICIENT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789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F1F3F5"/>
                </a:solidFill>
                <a:latin typeface="Georgia"/>
              </a:defRPr>
            </a:pPr>
            <a:r>
              <a:t>Hidden work must be counted.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17520"/>
            <a:ext cx="54864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 i="1">
                <a:solidFill>
                  <a:srgbClr val="E4E8EC"/>
                </a:solidFill>
                <a:latin typeface="Georgia"/>
              </a:defRPr>
            </a:pPr>
            <a:r>
              <a:t>Multi-stage methods can display a short final response while spending generation in planning, critique, sampling, or tool transcripts.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2057400"/>
            <a:ext cx="4315968" cy="841248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39712" y="2221992"/>
            <a:ext cx="4023359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404872"/>
            <a:ext cx="3986783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Final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80360"/>
            <a:ext cx="3986783" cy="-91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Text submitted to the grader.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3408" y="3163824"/>
            <a:ext cx="4315968" cy="841248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39712" y="3328416"/>
            <a:ext cx="4023359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511296"/>
            <a:ext cx="3986783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Total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86784"/>
            <a:ext cx="3986783" cy="-91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Plan + solve, critique + refine, all samples, or full tool transcript.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8" y="4270248"/>
            <a:ext cx="4315968" cy="841248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39712" y="4434840"/>
            <a:ext cx="4023359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617720"/>
            <a:ext cx="3986783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Joint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093208"/>
            <a:ext cx="3986783" cy="-914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Accuracy first, efficiency second, behavior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METRIC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09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SCORE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DESIGNED METRIC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6B7280"/>
                </a:solidFill>
                <a:latin typeface="Courier New"/>
              </a:defRPr>
            </a:pPr>
            <a:r>
              <a:t>CORRECTNESS GATE + BEHAVIOR MODIFIER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789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0A1F3D"/>
                </a:solidFill>
                <a:latin typeface="Georgia"/>
              </a:defRPr>
            </a:pPr>
            <a:r>
              <a:t>The joint score is accuracy-first.</a:t>
            </a:r>
          </a:p>
        </p:txBody>
      </p:sp>
      <p:pic>
        <p:nvPicPr>
          <p:cNvPr id="9" name="Picture 8" descr="efficiency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971800"/>
            <a:ext cx="10012680" cy="658368"/>
          </a:xfrm>
          <a:prstGeom prst="rect">
            <a:avLst/>
          </a:prstGeom>
        </p:spPr>
      </p:pic>
      <p:pic>
        <p:nvPicPr>
          <p:cNvPr id="10" name="Picture 9" descr="score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858768"/>
            <a:ext cx="905256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4800600"/>
            <a:ext cx="91440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 i="1">
                <a:solidFill>
                  <a:srgbClr val="334155"/>
                </a:solidFill>
                <a:latin typeface="Georgia"/>
              </a:defRPr>
            </a:pPr>
            <a:r>
              <a:t>Incorrect samples get zero. Correct samples keep a 0.6 floor; only the remaining 0.4 is adjusted by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ACT III · FACTOR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FACTOR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INTERPRETABILITY BEFORE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60120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 i="0">
                <a:solidFill>
                  <a:srgbClr val="E4E8EC"/>
                </a:solidFill>
                <a:latin typeface="Courier New"/>
              </a:defRPr>
            </a:pPr>
            <a:r>
              <a:t>WHAT EACH FACTOR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786384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900" b="1" i="0">
                <a:solidFill>
                  <a:srgbClr val="F1F3F5"/>
                </a:solidFill>
                <a:latin typeface="Georgia"/>
              </a:defRPr>
            </a:pPr>
            <a:r>
              <a:t>Length.</a:t>
            </a:r>
            <a:br/>
            <a:r>
              <a:t>Answer stability.</a:t>
            </a:r>
            <a:br/>
            <a:r>
              <a:t>Reflection.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352544"/>
            <a:ext cx="68580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 i="1">
                <a:solidFill>
                  <a:srgbClr val="E4E8EC"/>
                </a:solidFill>
                <a:latin typeface="Georgia"/>
              </a:defRPr>
            </a:pPr>
            <a:r>
              <a:t>The scalar score ranks methods; factor decomposition explains why the ranking moves.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4041648"/>
            <a:ext cx="3291840" cy="1481328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4206240"/>
            <a:ext cx="299923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389120"/>
            <a:ext cx="296265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Interpretability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64608"/>
            <a:ext cx="2962656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Low length factor means over-generation. Low answer factor means unstable answer signaling. Low reflection factor means excessive self-correction language.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FACTOR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L_I, A_I, R_I, F_I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6B7280"/>
                </a:solidFill>
                <a:latin typeface="Courier New"/>
              </a:defRPr>
            </a:pPr>
            <a:r>
              <a:t>VARIABLES BY FAILURE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789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0A1F3D"/>
                </a:solidFill>
                <a:latin typeface="Georgia"/>
              </a:defRPr>
            </a:pPr>
            <a:r>
              <a:t>Each factor targets a different</a:t>
            </a:r>
            <a:br/>
            <a:r>
              <a:t>bad behavior.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273552"/>
            <a:ext cx="33375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3438144"/>
            <a:ext cx="304495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21024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L_i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2"/>
            <a:ext cx="3008376" cy="-182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Total generated tokens, not only final answer tokens.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407408"/>
            <a:ext cx="33375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" y="4572000"/>
            <a:ext cx="3044952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A_i and R_i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30368"/>
            <a:ext cx="3008376" cy="-182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Answer-signal count and tail ratio after the first answer signal.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541264"/>
            <a:ext cx="33375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" y="5705855"/>
            <a:ext cx="3044952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88736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F_i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64224"/>
            <a:ext cx="3008376" cy="-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Reflective cue count: wait, check, verify, rethink, and equivalents.</a:t>
            </a:r>
          </a:p>
        </p:txBody>
      </p:sp>
      <p:pic>
        <p:nvPicPr>
          <p:cNvPr id="21" name="Picture 20" descr="length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127248"/>
            <a:ext cx="6355080" cy="502920"/>
          </a:xfrm>
          <a:prstGeom prst="rect">
            <a:avLst/>
          </a:prstGeom>
        </p:spPr>
      </p:pic>
      <p:pic>
        <p:nvPicPr>
          <p:cNvPr id="22" name="Picture 21" descr="answer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187952"/>
            <a:ext cx="6355080" cy="502920"/>
          </a:xfrm>
          <a:prstGeom prst="rect">
            <a:avLst/>
          </a:prstGeom>
        </p:spPr>
      </p:pic>
      <p:pic>
        <p:nvPicPr>
          <p:cNvPr id="23" name="Picture 22" descr="reflection_form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248656"/>
            <a:ext cx="635508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EXPERIMENTAL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SAME PARSER, SAME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E4E8EC"/>
                </a:solidFill>
                <a:latin typeface="Courier New"/>
              </a:defRPr>
            </a:pPr>
            <a:r>
              <a:t>CONTROLLED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1078992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F1F3F5"/>
                </a:solidFill>
                <a:latin typeface="Georgia"/>
              </a:defRPr>
            </a:pPr>
            <a:r>
              <a:t>Formatting drift should not become</a:t>
            </a:r>
            <a:br/>
            <a:r>
              <a:t>evaluation drift.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657600"/>
            <a:ext cx="2542032" cy="128016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3822191"/>
            <a:ext cx="2249424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221284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2212848" cy="3474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Same fixed data slices across methods.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3657600"/>
            <a:ext cx="2542032" cy="128016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39312" y="3822191"/>
            <a:ext cx="2249424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005072"/>
            <a:ext cx="221284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Parsing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80560"/>
            <a:ext cx="2212848" cy="3474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Shared answer parser extracts final predictions.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3657600"/>
            <a:ext cx="2542032" cy="128016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3822191"/>
            <a:ext cx="2249424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05072"/>
            <a:ext cx="221284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Grading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80560"/>
            <a:ext cx="2212848" cy="3474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Normalized prediction compared with normalized target.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3657600"/>
            <a:ext cx="2542032" cy="128016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25712" y="3822191"/>
            <a:ext cx="2249424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005072"/>
            <a:ext cx="221284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Aggregation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480560"/>
            <a:ext cx="2212848" cy="3474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When duplicates exist, report the highest joint-score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RESULTS · OVERALL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OVERALL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JOINT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41248"/>
            <a:ext cx="7223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6B7280"/>
                </a:solidFill>
                <a:latin typeface="Courier New"/>
              </a:defRPr>
            </a:pPr>
            <a:r>
              <a:t>DESIGNED SCORE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88720"/>
            <a:ext cx="722376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0A1F3D"/>
                </a:solidFill>
                <a:latin typeface="Georgia"/>
              </a:defRPr>
            </a:pPr>
            <a:r>
              <a:t>Plan-and-Solve is the strongest</a:t>
            </a:r>
            <a:br/>
            <a:r>
              <a:t>prompt-only extension.</a:t>
            </a:r>
          </a:p>
        </p:txBody>
      </p:sp>
      <p:pic>
        <p:nvPicPr>
          <p:cNvPr id="9" name="Picture 8" descr="overall_joint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12848"/>
            <a:ext cx="7498079" cy="38587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41080" y="2926080"/>
            <a:ext cx="260604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87384" y="3090672"/>
            <a:ext cx="2313432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5672" y="3273552"/>
            <a:ext cx="227685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How to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3749040"/>
            <a:ext cx="22768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This is a correctness-gated joint score. It includes behavior penalties. No standalone accuracy axis is shown.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RESULTS · METHOD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METHOD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JOINT-SCORE 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41248"/>
            <a:ext cx="7406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E4E8EC"/>
                </a:solidFill>
                <a:latin typeface="Courier New"/>
              </a:defRPr>
            </a:pPr>
            <a:r>
              <a:t>RELATIVE TO COT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88720"/>
            <a:ext cx="740664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F1F3F5"/>
                </a:solidFill>
                <a:latin typeface="Georgia"/>
              </a:defRPr>
            </a:pPr>
            <a:r>
              <a:t>Structure helps more than simply</a:t>
            </a:r>
            <a:br/>
            <a:r>
              <a:t>asking for reasoning.</a:t>
            </a:r>
          </a:p>
        </p:txBody>
      </p:sp>
      <p:pic>
        <p:nvPicPr>
          <p:cNvPr id="9" name="Picture 8" descr="joint_score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12848"/>
            <a:ext cx="7543800" cy="3794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41080" y="2788920"/>
            <a:ext cx="2633472" cy="1737360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87384" y="2953512"/>
            <a:ext cx="2340864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5672" y="3136391"/>
            <a:ext cx="230428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3611879"/>
            <a:ext cx="2304288" cy="8046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Self-Consistency buys robustness with hidden generation. Plan-and-Solve improves the trajectory without repeated samples.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ACT IV · RESULT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RESULT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THREE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60120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 i="0">
                <a:solidFill>
                  <a:srgbClr val="6B7280"/>
                </a:solidFill>
                <a:latin typeface="Courier New"/>
              </a:defRPr>
            </a:pPr>
            <a:r>
              <a:t>MULTI-DIMENSIONAL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768096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5400" b="1" i="0">
                <a:solidFill>
                  <a:srgbClr val="0A1F3D"/>
                </a:solidFill>
                <a:latin typeface="Georgia"/>
              </a:defRPr>
            </a:pPr>
            <a:r>
              <a:t>Method.</a:t>
            </a:r>
            <a:br/>
            <a:r>
              <a:t>Dataset.</a:t>
            </a:r>
            <a:br/>
            <a:r>
              <a:t>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370832"/>
            <a:ext cx="68580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 i="1">
                <a:solidFill>
                  <a:srgbClr val="334155"/>
                </a:solidFill>
                <a:latin typeface="Georgia"/>
              </a:defRPr>
            </a:pPr>
            <a:r>
              <a:t>The same designed score can be sliced across intervention style, data difficulty, and model behavior.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4041648"/>
            <a:ext cx="32918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4206240"/>
            <a:ext cx="299923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389120"/>
            <a:ext cx="296265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Discussion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64608"/>
            <a:ext cx="2962656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Compare joint score and factor decomposition together, not a standalone metric.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DATASET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6B7280"/>
                </a:solidFill>
                <a:latin typeface="Courier New"/>
              </a:defRPr>
            </a:pPr>
            <a: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DATASET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6B7280"/>
                </a:solidFill>
                <a:latin typeface="Courier New"/>
              </a:defRPr>
            </a:pPr>
            <a:r>
              <a:t>JOINT SCORE BY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41248"/>
            <a:ext cx="7406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6B7280"/>
                </a:solidFill>
                <a:latin typeface="Courier New"/>
              </a:defRPr>
            </a:pPr>
            <a:r>
              <a:t>DATA DIFFICULTY UNDER THE SAME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88720"/>
            <a:ext cx="740664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0A1F3D"/>
                </a:solidFill>
                <a:latin typeface="Georgia"/>
              </a:defRPr>
            </a:pPr>
            <a:r>
              <a:t>AIME remains the stress test.</a:t>
            </a:r>
          </a:p>
        </p:txBody>
      </p:sp>
      <p:pic>
        <p:nvPicPr>
          <p:cNvPr id="9" name="Picture 8" descr="dataset_joi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65960"/>
            <a:ext cx="7360920" cy="4434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58200" y="2743200"/>
            <a:ext cx="2816352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04504" y="2907792"/>
            <a:ext cx="2523744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090672"/>
            <a:ext cx="248716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A1F3D"/>
                </a:solidFill>
                <a:latin typeface="Georgia"/>
              </a:defRPr>
            </a:pPr>
            <a:r>
              <a:t>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566160"/>
            <a:ext cx="2487168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334155"/>
                </a:solidFill>
                <a:latin typeface="Arial"/>
              </a:defRPr>
            </a:pPr>
            <a:r>
              <a:t>GSM8K is more controllable. AIME exposes deeper reasoning gaps. The chart keeps both correctness and behavior in one designed score.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MODEL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BEHAVIOR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LENGTH / ANSWER / REFLECTION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41248"/>
            <a:ext cx="7406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80" b="0" i="0">
                <a:solidFill>
                  <a:srgbClr val="E4E8EC"/>
                </a:solidFill>
                <a:latin typeface="Courier New"/>
              </a:defRPr>
            </a:pPr>
            <a:r>
              <a:t>WHY THE SCORE 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88720"/>
            <a:ext cx="740664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700" b="1" i="0">
                <a:solidFill>
                  <a:srgbClr val="F1F3F5"/>
                </a:solidFill>
                <a:latin typeface="Georgia"/>
              </a:defRPr>
            </a:pPr>
            <a:r>
              <a:t>Factor decomposition separates</a:t>
            </a:r>
            <a:br/>
            <a:r>
              <a:t>verbosity from instability.</a:t>
            </a:r>
          </a:p>
        </p:txBody>
      </p:sp>
      <p:pic>
        <p:nvPicPr>
          <p:cNvPr id="9" name="Picture 8" descr="factor_decomposi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65960"/>
            <a:ext cx="7360920" cy="4434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58200" y="2697480"/>
            <a:ext cx="2816352" cy="1993392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04504" y="2862072"/>
            <a:ext cx="2523744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044952"/>
            <a:ext cx="248716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520440"/>
            <a:ext cx="2487168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DeepSeek gains more but can over-generate in baseline CoT. Qwen is weaker overall, yet Plan-and-Solve and TIR still improve its designed score.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852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FUTURE · AGENTIC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301752"/>
            <a:ext cx="2788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60" b="0" i="0">
                <a:solidFill>
                  <a:srgbClr val="E4E8EC"/>
                </a:solidFill>
                <a:latin typeface="Courier New"/>
              </a:defRPr>
            </a:pPr>
            <a: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41908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740" b="0" i="0">
                <a:solidFill>
                  <a:srgbClr val="E4E8EC"/>
                </a:solidFill>
                <a:latin typeface="Courier New"/>
              </a:defRPr>
            </a:pPr>
            <a:r>
              <a:t>PROMPTING BECOMES 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68680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 i="0">
                <a:solidFill>
                  <a:srgbClr val="E4E8EC"/>
                </a:solidFill>
                <a:latin typeface="Courier New"/>
              </a:defRPr>
            </a:pPr>
            <a:r>
              <a:t>WHERE THIS PROJECT POINTS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7680960" cy="1755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500" b="1" i="0">
                <a:solidFill>
                  <a:srgbClr val="F1F3F5"/>
                </a:solidFill>
                <a:latin typeface="Georgia"/>
              </a:defRPr>
            </a:pPr>
            <a:r>
              <a:t>A thin harness</a:t>
            </a:r>
            <a:br/>
            <a:r>
              <a:t>for better math agents.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657600"/>
            <a:ext cx="3337560" cy="1298448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3822191"/>
            <a:ext cx="3044952" cy="12801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Harness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008376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Define answer contract, tool policy, observation memory, and budget controller.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3657600"/>
            <a:ext cx="3337560" cy="1298448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3822191"/>
            <a:ext cx="3044952" cy="12801"/>
          </a:xfrm>
          <a:prstGeom prst="rect">
            <a:avLst/>
          </a:prstGeom>
          <a:solidFill>
            <a:srgbClr val="3A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005072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ReAct-style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4480560"/>
            <a:ext cx="3008376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Reason, act, observe, then stop when the answer is stable.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57600"/>
            <a:ext cx="3337560" cy="1298448"/>
          </a:xfrm>
          <a:prstGeom prst="rect">
            <a:avLst/>
          </a:prstGeom>
          <a:solidFill>
            <a:srgbClr val="152A4A"/>
          </a:solidFill>
          <a:ln w="10160">
            <a:solidFill>
              <a:srgbClr val="38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3822191"/>
            <a:ext cx="3044952" cy="12801"/>
          </a:xfrm>
          <a:prstGeom prst="rect">
            <a:avLst/>
          </a:prstGeom>
          <a:solidFill>
            <a:srgbClr val="C9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005072"/>
            <a:ext cx="30083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1F3F5"/>
                </a:solidFill>
                <a:latin typeface="Georgia"/>
              </a:defRPr>
            </a:pPr>
            <a:r>
              <a:t>Verifier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480560"/>
            <a:ext cx="3008376" cy="3657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70" b="0" i="0">
                <a:solidFill>
                  <a:srgbClr val="E4E8EC"/>
                </a:solidFill>
                <a:latin typeface="Arial"/>
              </a:defRPr>
            </a:pPr>
            <a:r>
              <a:t>Use parser, symbolic checks, and early exit to reduce wasted reasoning.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376672"/>
            <a:ext cx="749807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 i="1">
                <a:solidFill>
                  <a:srgbClr val="F1F3F5"/>
                </a:solidFill>
                <a:latin typeface="Georgia"/>
              </a:defRPr>
            </a:pPr>
            <a:r>
              <a:t>Main lesson: prompt design and evaluation design must be built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